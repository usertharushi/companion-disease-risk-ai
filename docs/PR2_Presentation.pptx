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 am Tharushi Ranasinghe. This is my second progress review for my final year project on an agentic AI system that helps pet owners spot disease risk early. I will cover what I planned, what I have built, what the results show, and what is left.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is simple. Pets hide illness. Owners see the signs late. Apps today only send reminders. My aim is a system that reasons on its own, explains why, and then helps the owner take action. The six objectives are unchanged from PR1 and all six are now built.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reviewed twelve studies. They agree AI works in animal health. But almost all of them are for vets, for livestock, or need sensors. None give the owner an explanation they can act on, and none work in Sinhala or Tamil. That is my gap.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follow Design Science Research: I build the system, then measure it. Development is agile. For data I used two public symptom datasets plus a survey of thirty one pet owners. I measure the models with accuracy and F1, and I also record what the vet actually diagnosed so I can compare AI against real outcomes.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functional requirements, all implemented. On the non-functional side the two I want to highlight are privacy and the disclaimer. A vet cannot open a pet's records unless there is a real link — an appointment or the owner's consent. And every result carries a disclaimer, because this is decision support, not diagnosis.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front end talks to one API gateway. The gateway checks the login token and passes the request on. Node services handle users, pets, clinics, vaccinations and admin. Two Python services do the AI work. MongoDB stores the data and Neo4j stores the disease knowledge graph. Everything runs in Docker — thirteen containers.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actors. The owner reports symptoms, sees the risk, books and tracks vaccinations. The vet sees patients they are linked to and confirms the real diagnosis. The admin manages clinics, vet accounts and approvals.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entities are User, Pet, Prediction, Appointment, Vaccination and Clinic. One extra table matters: the access grant, which records which vet may see which pet, and when that access started and ended.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shows the main classes and how the services are organised in code.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agentic part. The first agent predicts the risk by calling the ML model. The second agent explains it and gives care advice. If the case needs a vet, a third agent finds and ranks clinics. A fourth agent runs in the background on a timer and creates alerts without anyone asking. The route through the graph is decided by the result, not fixed.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nine functional requirements are built and running. The whole stack starts with one docker compose command — thirteen containers. Everything is in Git and pushed to GitHub after each feature.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full journey. The owner adds a pet, answers a short form about appetite, water, activity and symptoms. The model predicts. The agents explain it and say how urgent it is. If a vet is needed, a clinic is suggested with a free slot, and the owner books. After that, reminders keep going. I will now show this live.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Explainability was a specific objective. The system shows the confidence, the top three conditions, and which of the owner's answers mattered most. Early on this showed raw word fragments like 'has' and 'less', which confused people, so I changed it to show whole form answers such as 'water intake: increased'.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A reaches ninety point three percent accuracy over eleven conditions. But I want to be honest about that number. The six chronic classes score near one because their training rows were generated from veterinary knowledge, not collected. The five classes from the real dataset sit between zero point seven seven and zero point eight seven, and they confuse with each other. So I quote the per-class numbers, not just the headline.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wrote a test workbook of one hundred and twenty three cases and I am working through it by hand. Eighty two pass, two fail, thirty nine still to run. Testing found real defects and I fixed each one. There are also fifty three automated tests, and all of them pass.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 the biggest security fix of this stage. Before, any vet could open any pet's records. Now a vet needs a real relationship: either the owner booked with them, or the owner shared the records. The owner can take that back. And the check happens in the back end, not the screen, so hiding a button is not what protects the data.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real challenges. The one I would highlight is the risk dataset. Almost ninety eight percent of its rows are labelled dangerous, so a model trained on it would just say dangerous every time. Rather than hide that, I use it only as a probability and I state it openly as a limitation. The lesson overall: most of my defects were not in the AI, they were in restart, delete and cancel.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left is mainly evaluation and writing. Thirty nine test cases still to run, user testing with real owners, and collecting enough vet-confirmed diagnoses to report the AI-versus-vet agreement rate properly. Then the dissertation.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am on schedule. Proposal, literature, design and implementation are done, the interim report is submitted, and I am now in the testing and evaluation phase.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summarise: all six objectives are built and working. The models are measured and I report their weaknesses as well as their strengths. The agentic layer reasons and acts on its own. And throughout, the system is decision support — it never claims to diagnose. Thank you.</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key references, in IEEE style. The full list is in the interim report.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I am happy to take questions.</a:t>
            </a:r>
          </a:p>
          <a:p/>
          <a:p>
            <a:r>
              <a:t>Likely questions and short answers:</a:t>
            </a:r>
          </a:p>
          <a:p>
            <a:r>
              <a:t>• Why is accuracy so high? Six of the eleven classes use knowledge-generated rows. The five real-data classes sit at 0.77 to 0.87, and I report both.</a:t>
            </a:r>
          </a:p>
          <a:p>
            <a:r>
              <a:t>• Is this a diagnosis? No. Every result carries a decision-support disclaimer.</a:t>
            </a:r>
          </a:p>
          <a:p>
            <a:r>
              <a:t>• What makes it agentic? The route through the pipeline is decided by the result, and a fourth agent runs on a timer with no user request.</a:t>
            </a:r>
          </a:p>
          <a:p>
            <a:r>
              <a:t>• How is privacy handled? A vet needs an appointment or the owner's consent, checked in the back end, and it fails closed.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999232"/>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51560"/>
            <a:ext cx="10332720" cy="1920240"/>
          </a:xfrm>
          <a:prstGeom prst="rect">
            <a:avLst/>
          </a:prstGeom>
          <a:noFill/>
        </p:spPr>
        <p:txBody>
          <a:bodyPr wrap="square">
            <a:spAutoFit/>
          </a:bodyPr>
          <a:lstStyle/>
          <a:p>
            <a:r>
              <a:rPr sz="3300" b="1">
                <a:solidFill>
                  <a:srgbClr val="FFFFFF"/>
                </a:solidFill>
                <a:latin typeface="Calibri"/>
              </a:rPr>
              <a:t>Design and Evaluation of an Agentic AI-Driven Decision Support System for Explainable Early Disease Risk Detection in Companion Animals</a:t>
            </a:r>
          </a:p>
        </p:txBody>
      </p:sp>
      <p:sp>
        <p:nvSpPr>
          <p:cNvPr id="5" name="TextBox 4"/>
          <p:cNvSpPr txBox="1"/>
          <p:nvPr/>
        </p:nvSpPr>
        <p:spPr>
          <a:xfrm>
            <a:off x="914400" y="3337560"/>
            <a:ext cx="10332720" cy="2743200"/>
          </a:xfrm>
          <a:prstGeom prst="rect">
            <a:avLst/>
          </a:prstGeom>
          <a:noFill/>
        </p:spPr>
        <p:txBody>
          <a:bodyPr wrap="square">
            <a:spAutoFit/>
          </a:bodyPr>
          <a:lstStyle/>
          <a:p>
            <a:pPr>
              <a:spcAft>
                <a:spcPts val="600"/>
              </a:spcAft>
            </a:pPr>
            <a:r>
              <a:rPr sz="1700" b="1">
                <a:solidFill>
                  <a:srgbClr val="0E7C86"/>
                </a:solidFill>
                <a:latin typeface="Calibri"/>
              </a:rPr>
              <a:t>Second Progress Review</a:t>
            </a:r>
          </a:p>
          <a:p>
            <a:pPr>
              <a:spcAft>
                <a:spcPts val="600"/>
              </a:spcAft>
            </a:pPr>
            <a:r>
              <a:rPr sz="1500">
                <a:solidFill>
                  <a:srgbClr val="8FB2C2"/>
                </a:solidFill>
                <a:latin typeface="Calibri"/>
              </a:rPr>
              <a:t>Presented by:  </a:t>
            </a:r>
            <a:r>
              <a:rPr sz="1500" b="0">
                <a:solidFill>
                  <a:srgbClr val="FFFFFF"/>
                </a:solidFill>
                <a:latin typeface="Calibri"/>
              </a:rPr>
              <a:t>MTE Ranasinghe</a:t>
            </a:r>
          </a:p>
          <a:p>
            <a:pPr>
              <a:spcAft>
                <a:spcPts val="600"/>
              </a:spcAft>
            </a:pPr>
            <a:r>
              <a:rPr sz="1500">
                <a:solidFill>
                  <a:srgbClr val="8FB2C2"/>
                </a:solidFill>
                <a:latin typeface="Calibri"/>
              </a:rPr>
              <a:t>Student ID:  </a:t>
            </a:r>
            <a:r>
              <a:rPr sz="1500" b="0">
                <a:solidFill>
                  <a:srgbClr val="FFFFFF"/>
                </a:solidFill>
                <a:latin typeface="Calibri"/>
              </a:rPr>
              <a:t>D/BIT/23/0025</a:t>
            </a:r>
          </a:p>
          <a:p>
            <a:pPr>
              <a:spcAft>
                <a:spcPts val="600"/>
              </a:spcAft>
            </a:pPr>
            <a:r>
              <a:rPr sz="1500">
                <a:solidFill>
                  <a:srgbClr val="8FB2C2"/>
                </a:solidFill>
                <a:latin typeface="Calibri"/>
              </a:rPr>
              <a:t>Degree Programme:  </a:t>
            </a:r>
            <a:r>
              <a:rPr sz="1500" b="0">
                <a:solidFill>
                  <a:srgbClr val="FFFFFF"/>
                </a:solidFill>
                <a:latin typeface="Calibri"/>
              </a:rPr>
              <a:t>BSc (Hons) in Information Technology</a:t>
            </a:r>
          </a:p>
          <a:p>
            <a:pPr>
              <a:spcAft>
                <a:spcPts val="600"/>
              </a:spcAft>
            </a:pPr>
            <a:r>
              <a:rPr sz="1500">
                <a:solidFill>
                  <a:srgbClr val="8FB2C2"/>
                </a:solidFill>
                <a:latin typeface="Calibri"/>
              </a:rPr>
              <a:t>Supervisor:  </a:t>
            </a:r>
            <a:r>
              <a:rPr sz="1500" b="0">
                <a:solidFill>
                  <a:srgbClr val="FFFFFF"/>
                </a:solidFill>
                <a:latin typeface="Calibri"/>
              </a:rPr>
              <a:t>Dr. (Mrs) N Wedasinghe</a:t>
            </a:r>
          </a:p>
          <a:p>
            <a:pPr>
              <a:spcAft>
                <a:spcPts val="600"/>
              </a:spcAft>
            </a:pPr>
            <a:r>
              <a:rPr sz="1500">
                <a:solidFill>
                  <a:srgbClr val="8FB2C2"/>
                </a:solidFill>
                <a:latin typeface="Calibri"/>
              </a:rPr>
              <a:t>Co-Supervisor:  </a:t>
            </a:r>
            <a:r>
              <a:rPr sz="1500" b="0">
                <a:solidFill>
                  <a:srgbClr val="FFFFFF"/>
                </a:solidFill>
                <a:latin typeface="Calibri"/>
              </a:rPr>
              <a:t>Mr. BGL Balasuriya</a:t>
            </a:r>
          </a:p>
          <a:p>
            <a:pPr>
              <a:spcAft>
                <a:spcPts val="600"/>
              </a:spcAft>
            </a:pPr>
            <a:r>
              <a:rPr sz="1500">
                <a:solidFill>
                  <a:srgbClr val="8FB2C2"/>
                </a:solidFill>
                <a:latin typeface="Calibri"/>
              </a:rPr>
              <a:t>Department:  </a:t>
            </a:r>
            <a:r>
              <a:rPr sz="1500" b="0">
                <a:solidFill>
                  <a:srgbClr val="FFFFFF"/>
                </a:solidFill>
                <a:latin typeface="Calibri"/>
              </a:rPr>
              <a:t>Department of Information Technology</a:t>
            </a:r>
          </a:p>
          <a:p>
            <a:pPr>
              <a:spcAft>
                <a:spcPts val="600"/>
              </a:spcAft>
            </a:pPr>
            <a:r>
              <a:rPr sz="1500">
                <a:solidFill>
                  <a:srgbClr val="8FB2C2"/>
                </a:solidFill>
                <a:latin typeface="Calibri"/>
              </a:rPr>
              <a:t>University:  </a:t>
            </a:r>
            <a:r>
              <a:rPr sz="1500" b="0">
                <a:solidFill>
                  <a:srgbClr val="FFFFFF"/>
                </a:solidFill>
                <a:latin typeface="Calibri"/>
              </a:rPr>
              <a:t>General Sir John Kotelawala Defence University</a:t>
            </a:r>
          </a:p>
          <a:p>
            <a:pPr>
              <a:spcAft>
                <a:spcPts val="600"/>
              </a:spcAft>
            </a:pPr>
            <a:r>
              <a:rPr sz="1500">
                <a:solidFill>
                  <a:srgbClr val="8FB2C2"/>
                </a:solidFill>
                <a:latin typeface="Calibri"/>
              </a:rPr>
              <a:t>Date:  </a:t>
            </a:r>
            <a:r>
              <a:rPr sz="1500" b="0">
                <a:solidFill>
                  <a:srgbClr val="FFFFFF"/>
                </a:solidFill>
                <a:latin typeface="Calibri"/>
              </a:rPr>
              <a:t>[ add presentation date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0515600" cy="822960"/>
          </a:xfrm>
          <a:prstGeom prst="rect">
            <a:avLst/>
          </a:prstGeom>
          <a:noFill/>
        </p:spPr>
        <p:txBody>
          <a:bodyPr wrap="square">
            <a:spAutoFit/>
          </a:bodyPr>
          <a:lstStyle/>
          <a:p>
            <a:r>
              <a:rPr sz="3000" b="1">
                <a:solidFill>
                  <a:srgbClr val="FFFFFF"/>
                </a:solidFill>
                <a:latin typeface="Calibri"/>
              </a:rPr>
              <a:t>Project Overview</a:t>
            </a:r>
          </a:p>
          <a:p>
            <a:r>
              <a:rPr sz="1300">
                <a:solidFill>
                  <a:srgbClr val="B8CDD8"/>
                </a:solidFill>
                <a:latin typeface="Calibri"/>
              </a:rPr>
              <a:t>Background · Problem · Aim · Objectives</a:t>
            </a:r>
          </a:p>
        </p:txBody>
      </p:sp>
      <p:sp>
        <p:nvSpPr>
          <p:cNvPr id="5" name="TextBox 4"/>
          <p:cNvSpPr txBox="1"/>
          <p:nvPr/>
        </p:nvSpPr>
        <p:spPr>
          <a:xfrm>
            <a:off x="11064240" y="256032"/>
            <a:ext cx="822960" cy="548640"/>
          </a:xfrm>
          <a:prstGeom prst="rect">
            <a:avLst/>
          </a:prstGeom>
          <a:noFill/>
        </p:spPr>
        <p:txBody>
          <a:bodyPr wrap="square">
            <a:spAutoFit/>
          </a:bodyPr>
          <a:lstStyle/>
          <a:p>
            <a:pPr algn="r"/>
            <a:r>
              <a:rPr sz="2600" b="1">
                <a:solidFill>
                  <a:srgbClr val="0E7C86"/>
                </a:solidFill>
                <a:latin typeface="Calibri"/>
              </a:rPr>
              <a:t>02</a:t>
            </a:r>
          </a:p>
        </p:txBody>
      </p:sp>
      <p:sp>
        <p:nvSpPr>
          <p:cNvPr id="6" name="TextBox 5"/>
          <p:cNvSpPr txBox="1"/>
          <p:nvPr/>
        </p:nvSpPr>
        <p:spPr>
          <a:xfrm>
            <a:off x="658368" y="1463040"/>
            <a:ext cx="5120640" cy="4937760"/>
          </a:xfrm>
          <a:prstGeom prst="rect">
            <a:avLst/>
          </a:prstGeom>
          <a:noFill/>
        </p:spPr>
        <p:txBody>
          <a:bodyPr wrap="square">
            <a:spAutoFit/>
          </a:bodyPr>
          <a:lstStyle/>
          <a:p>
            <a:pPr>
              <a:spcAft>
                <a:spcPts val="1000"/>
              </a:spcAft>
            </a:pPr>
            <a:r>
              <a:rPr sz="1700" b="0">
                <a:solidFill>
                  <a:srgbClr val="1F2A33"/>
                </a:solidFill>
                <a:latin typeface="Calibri"/>
              </a:rPr>
              <a:t>• Background</a:t>
            </a:r>
          </a:p>
          <a:p>
            <a:pPr lvl="1">
              <a:spcAft>
                <a:spcPts val="1000"/>
              </a:spcAft>
            </a:pPr>
            <a:r>
              <a:rPr sz="1500" b="0">
                <a:solidFill>
                  <a:srgbClr val="5B6B77"/>
                </a:solidFill>
                <a:latin typeface="Calibri"/>
              </a:rPr>
              <a:t>– Pets cannot tell us what is wrong.</a:t>
            </a:r>
          </a:p>
          <a:p>
            <a:pPr lvl="1">
              <a:spcAft>
                <a:spcPts val="1000"/>
              </a:spcAft>
            </a:pPr>
            <a:r>
              <a:rPr sz="1500" b="0">
                <a:solidFill>
                  <a:srgbClr val="5B6B77"/>
                </a:solidFill>
                <a:latin typeface="Calibri"/>
              </a:rPr>
              <a:t>– Early signs are small and easy to miss.</a:t>
            </a:r>
          </a:p>
          <a:p>
            <a:pPr>
              <a:spcAft>
                <a:spcPts val="1000"/>
              </a:spcAft>
            </a:pPr>
            <a:r>
              <a:rPr sz="1700" b="0">
                <a:solidFill>
                  <a:srgbClr val="1F2A33"/>
                </a:solidFill>
                <a:latin typeface="Calibri"/>
              </a:rPr>
              <a:t>• Problem</a:t>
            </a:r>
          </a:p>
          <a:p>
            <a:pPr lvl="1">
              <a:spcAft>
                <a:spcPts val="1000"/>
              </a:spcAft>
            </a:pPr>
            <a:r>
              <a:rPr sz="1500" b="0">
                <a:solidFill>
                  <a:srgbClr val="5B6B77"/>
                </a:solidFill>
                <a:latin typeface="Calibri"/>
              </a:rPr>
              <a:t>– Owners often notice too late.</a:t>
            </a:r>
          </a:p>
          <a:p>
            <a:pPr lvl="1">
              <a:spcAft>
                <a:spcPts val="1000"/>
              </a:spcAft>
            </a:pPr>
            <a:r>
              <a:rPr sz="1500" b="0">
                <a:solidFill>
                  <a:srgbClr val="5B6B77"/>
                </a:solidFill>
                <a:latin typeface="Calibri"/>
              </a:rPr>
              <a:t>– Late treatment costs more and hurts welfare.</a:t>
            </a:r>
          </a:p>
          <a:p>
            <a:pPr lvl="1">
              <a:spcAft>
                <a:spcPts val="1000"/>
              </a:spcAft>
            </a:pPr>
            <a:r>
              <a:rPr sz="1500" b="0">
                <a:solidFill>
                  <a:srgbClr val="5B6B77"/>
                </a:solidFill>
                <a:latin typeface="Calibri"/>
              </a:rPr>
              <a:t>– Existing apps only remind, they do not reason.</a:t>
            </a:r>
          </a:p>
        </p:txBody>
      </p:sp>
      <p:sp>
        <p:nvSpPr>
          <p:cNvPr id="7" name="TextBox 6"/>
          <p:cNvSpPr txBox="1"/>
          <p:nvPr/>
        </p:nvSpPr>
        <p:spPr>
          <a:xfrm>
            <a:off x="6126480" y="1463040"/>
            <a:ext cx="5486400" cy="4937760"/>
          </a:xfrm>
          <a:prstGeom prst="rect">
            <a:avLst/>
          </a:prstGeom>
          <a:noFill/>
        </p:spPr>
        <p:txBody>
          <a:bodyPr wrap="square">
            <a:spAutoFit/>
          </a:bodyPr>
          <a:lstStyle/>
          <a:p>
            <a:pPr>
              <a:spcAft>
                <a:spcPts val="1000"/>
              </a:spcAft>
            </a:pPr>
            <a:r>
              <a:rPr sz="1700" b="0">
                <a:solidFill>
                  <a:srgbClr val="1F2A33"/>
                </a:solidFill>
                <a:latin typeface="Calibri"/>
              </a:rPr>
              <a:t>• Aim</a:t>
            </a:r>
          </a:p>
          <a:p>
            <a:pPr lvl="1">
              <a:spcAft>
                <a:spcPts val="1000"/>
              </a:spcAft>
            </a:pPr>
            <a:r>
              <a:rPr sz="1500" b="0">
                <a:solidFill>
                  <a:srgbClr val="5B6B77"/>
                </a:solidFill>
                <a:latin typeface="Calibri"/>
              </a:rPr>
              <a:t>– Build and evaluate an agentic AI system that finds</a:t>
            </a:r>
          </a:p>
          <a:p>
            <a:pPr lvl="1">
              <a:spcAft>
                <a:spcPts val="1000"/>
              </a:spcAft>
            </a:pPr>
            <a:r>
              <a:rPr sz="1500" b="0">
                <a:solidFill>
                  <a:srgbClr val="5B6B77"/>
                </a:solidFill>
                <a:latin typeface="Calibri"/>
              </a:rPr>
              <a:t>– early disease risk and explains its reasoning.</a:t>
            </a:r>
          </a:p>
          <a:p>
            <a:pPr>
              <a:spcAft>
                <a:spcPts val="1000"/>
              </a:spcAft>
            </a:pPr>
            <a:r>
              <a:rPr sz="1700" b="0">
                <a:solidFill>
                  <a:srgbClr val="1F2A33"/>
                </a:solidFill>
                <a:latin typeface="Calibri"/>
              </a:rPr>
              <a:t>• Objectives</a:t>
            </a:r>
          </a:p>
          <a:p>
            <a:pPr lvl="1">
              <a:spcAft>
                <a:spcPts val="1000"/>
              </a:spcAft>
            </a:pPr>
            <a:r>
              <a:rPr sz="1500" b="0">
                <a:solidFill>
                  <a:srgbClr val="5B6B77"/>
                </a:solidFill>
                <a:latin typeface="Calibri"/>
              </a:rPr>
              <a:t>– 1. Find risk from owner-reported symptoms.</a:t>
            </a:r>
          </a:p>
          <a:p>
            <a:pPr lvl="1">
              <a:spcAft>
                <a:spcPts val="1000"/>
              </a:spcAft>
            </a:pPr>
            <a:r>
              <a:rPr sz="1500" b="0">
                <a:solidFill>
                  <a:srgbClr val="5B6B77"/>
                </a:solidFill>
                <a:latin typeface="Calibri"/>
              </a:rPr>
              <a:t>– 2. Train ML models for disease and risk level.</a:t>
            </a:r>
          </a:p>
          <a:p>
            <a:pPr lvl="1">
              <a:spcAft>
                <a:spcPts val="1000"/>
              </a:spcAft>
            </a:pPr>
            <a:r>
              <a:rPr sz="1500" b="0">
                <a:solidFill>
                  <a:srgbClr val="5B6B77"/>
                </a:solidFill>
                <a:latin typeface="Calibri"/>
              </a:rPr>
              <a:t>– 3. Add an agentic AI layer that reasons and acts.</a:t>
            </a:r>
          </a:p>
          <a:p>
            <a:pPr lvl="1">
              <a:spcAft>
                <a:spcPts val="1000"/>
              </a:spcAft>
            </a:pPr>
            <a:r>
              <a:rPr sz="1500" b="0">
                <a:solidFill>
                  <a:srgbClr val="5B6B77"/>
                </a:solidFill>
                <a:latin typeface="Calibri"/>
              </a:rPr>
              <a:t>– 4. Explain results: confidence and key symptoms.</a:t>
            </a:r>
          </a:p>
          <a:p>
            <a:pPr lvl="1">
              <a:spcAft>
                <a:spcPts val="1000"/>
              </a:spcAft>
            </a:pPr>
            <a:r>
              <a:rPr sz="1500" b="0">
                <a:solidFill>
                  <a:srgbClr val="5B6B77"/>
                </a:solidFill>
                <a:latin typeface="Calibri"/>
              </a:rPr>
              <a:t>– 5. Find nearby clinics and book appointments.</a:t>
            </a:r>
          </a:p>
          <a:p>
            <a:pPr lvl="1">
              <a:spcAft>
                <a:spcPts val="1000"/>
              </a:spcAft>
            </a:pPr>
            <a:r>
              <a:rPr sz="1500" b="0">
                <a:solidFill>
                  <a:srgbClr val="5B6B77"/>
                </a:solidFill>
                <a:latin typeface="Calibri"/>
              </a:rPr>
              <a:t>– 6. Track vaccinations and send reminders.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0515600" cy="822960"/>
          </a:xfrm>
          <a:prstGeom prst="rect">
            <a:avLst/>
          </a:prstGeom>
          <a:noFill/>
        </p:spPr>
        <p:txBody>
          <a:bodyPr wrap="square">
            <a:spAutoFit/>
          </a:bodyPr>
          <a:lstStyle/>
          <a:p>
            <a:r>
              <a:rPr sz="3000" b="1">
                <a:solidFill>
                  <a:srgbClr val="FFFFFF"/>
                </a:solidFill>
                <a:latin typeface="Calibri"/>
              </a:rPr>
              <a:t>Literature Review Summary</a:t>
            </a:r>
          </a:p>
          <a:p>
            <a:r>
              <a:rPr sz="1300">
                <a:solidFill>
                  <a:srgbClr val="B8CDD8"/>
                </a:solidFill>
                <a:latin typeface="Calibri"/>
              </a:rPr>
              <a:t>Key findings and the gap</a:t>
            </a:r>
          </a:p>
        </p:txBody>
      </p:sp>
      <p:sp>
        <p:nvSpPr>
          <p:cNvPr id="5" name="TextBox 4"/>
          <p:cNvSpPr txBox="1"/>
          <p:nvPr/>
        </p:nvSpPr>
        <p:spPr>
          <a:xfrm>
            <a:off x="11064240" y="256032"/>
            <a:ext cx="822960" cy="548640"/>
          </a:xfrm>
          <a:prstGeom prst="rect">
            <a:avLst/>
          </a:prstGeom>
          <a:noFill/>
        </p:spPr>
        <p:txBody>
          <a:bodyPr wrap="square">
            <a:spAutoFit/>
          </a:bodyPr>
          <a:lstStyle/>
          <a:p>
            <a:pPr algn="r"/>
            <a:r>
              <a:rPr sz="2600" b="1">
                <a:solidFill>
                  <a:srgbClr val="0E7C86"/>
                </a:solidFill>
                <a:latin typeface="Calibri"/>
              </a:rPr>
              <a:t>03</a:t>
            </a:r>
          </a:p>
        </p:txBody>
      </p:sp>
      <p:graphicFrame>
        <p:nvGraphicFramePr>
          <p:cNvPr id="6" name="Table 5"/>
          <p:cNvGraphicFramePr>
            <a:graphicFrameLocks noGrp="1"/>
          </p:cNvGraphicFramePr>
          <p:nvPr/>
        </p:nvGraphicFramePr>
        <p:xfrm>
          <a:off x="658368" y="1600200"/>
          <a:ext cx="10881360" cy="2560320"/>
        </p:xfrm>
        <a:graphic>
          <a:graphicData uri="http://schemas.openxmlformats.org/drawingml/2006/table">
            <a:tbl>
              <a:tblPr firstRow="1" bandRow="1">
                <a:tableStyleId>{5C22544A-7EE6-4342-B048-85BDC9FD1C3A}</a:tableStyleId>
              </a:tblPr>
              <a:tblGrid>
                <a:gridCol w="2743200"/>
                <a:gridCol w="4206240"/>
                <a:gridCol w="3931920"/>
              </a:tblGrid>
              <a:tr h="365760">
                <a:tc>
                  <a:txBody>
                    <a:bodyPr/>
                    <a:lstStyle/>
                    <a:p>
                      <a:r>
                        <a:rPr sz="1300" b="1">
                          <a:solidFill>
                            <a:srgbClr val="FFFFFF"/>
                          </a:solidFill>
                          <a:latin typeface="Calibri"/>
                        </a:rPr>
                        <a:t>Area</a:t>
                      </a:r>
                    </a:p>
                  </a:txBody>
                  <a:tcPr>
                    <a:solidFill>
                      <a:srgbClr val="142A3F"/>
                    </a:solidFill>
                  </a:tcPr>
                </a:tc>
                <a:tc>
                  <a:txBody>
                    <a:bodyPr/>
                    <a:lstStyle/>
                    <a:p>
                      <a:r>
                        <a:rPr sz="1300" b="1">
                          <a:solidFill>
                            <a:srgbClr val="FFFFFF"/>
                          </a:solidFill>
                          <a:latin typeface="Calibri"/>
                        </a:rPr>
                        <a:t>What the literature shows</a:t>
                      </a:r>
                    </a:p>
                  </a:txBody>
                  <a:tcPr>
                    <a:solidFill>
                      <a:srgbClr val="142A3F"/>
                    </a:solidFill>
                  </a:tcPr>
                </a:tc>
                <a:tc>
                  <a:txBody>
                    <a:bodyPr/>
                    <a:lstStyle/>
                    <a:p>
                      <a:r>
                        <a:rPr sz="1300" b="1">
                          <a:solidFill>
                            <a:srgbClr val="FFFFFF"/>
                          </a:solidFill>
                          <a:latin typeface="Calibri"/>
                        </a:rPr>
                        <a:t>What is missing</a:t>
                      </a:r>
                    </a:p>
                  </a:txBody>
                  <a:tcPr>
                    <a:solidFill>
                      <a:srgbClr val="142A3F"/>
                    </a:solidFill>
                  </a:tcPr>
                </a:tc>
              </a:tr>
              <a:tr h="365760">
                <a:tc>
                  <a:txBody>
                    <a:bodyPr/>
                    <a:lstStyle/>
                    <a:p>
                      <a:r>
                        <a:rPr sz="1300" b="0">
                          <a:solidFill>
                            <a:srgbClr val="1F2A33"/>
                          </a:solidFill>
                          <a:latin typeface="Calibri"/>
                        </a:rPr>
                        <a:t>AI in animal disease prediction</a:t>
                      </a:r>
                    </a:p>
                  </a:txBody>
                  <a:tcPr>
                    <a:solidFill>
                      <a:srgbClr val="FFFFFF"/>
                    </a:solidFill>
                  </a:tcPr>
                </a:tc>
                <a:tc>
                  <a:txBody>
                    <a:bodyPr/>
                    <a:lstStyle/>
                    <a:p>
                      <a:r>
                        <a:rPr sz="1300" b="0">
                          <a:solidFill>
                            <a:srgbClr val="1F2A33"/>
                          </a:solidFill>
                          <a:latin typeface="Calibri"/>
                        </a:rPr>
                        <a:t>AI improves early detection</a:t>
                      </a:r>
                    </a:p>
                  </a:txBody>
                  <a:tcPr>
                    <a:solidFill>
                      <a:srgbClr val="FFFFFF"/>
                    </a:solidFill>
                  </a:tcPr>
                </a:tc>
                <a:tc>
                  <a:txBody>
                    <a:bodyPr/>
                    <a:lstStyle/>
                    <a:p>
                      <a:r>
                        <a:rPr sz="1300" b="0">
                          <a:solidFill>
                            <a:srgbClr val="1F2A33"/>
                          </a:solidFill>
                          <a:latin typeface="Calibri"/>
                        </a:rPr>
                        <a:t>Built for surveillance, not owners</a:t>
                      </a:r>
                    </a:p>
                  </a:txBody>
                  <a:tcPr>
                    <a:solidFill>
                      <a:srgbClr val="FFFFFF"/>
                    </a:solidFill>
                  </a:tcPr>
                </a:tc>
              </a:tr>
              <a:tr h="365760">
                <a:tc>
                  <a:txBody>
                    <a:bodyPr/>
                    <a:lstStyle/>
                    <a:p>
                      <a:r>
                        <a:rPr sz="1300" b="0">
                          <a:solidFill>
                            <a:srgbClr val="1F2A33"/>
                          </a:solidFill>
                          <a:latin typeface="Calibri"/>
                        </a:rPr>
                        <a:t>ML in animal healthcare</a:t>
                      </a:r>
                    </a:p>
                  </a:txBody>
                  <a:tcPr>
                    <a:solidFill>
                      <a:srgbClr val="F2F5F7"/>
                    </a:solidFill>
                  </a:tcPr>
                </a:tc>
                <a:tc>
                  <a:txBody>
                    <a:bodyPr/>
                    <a:lstStyle/>
                    <a:p>
                      <a:r>
                        <a:rPr sz="1300" b="0">
                          <a:solidFill>
                            <a:srgbClr val="1F2A33"/>
                          </a:solidFill>
                          <a:latin typeface="Calibri"/>
                        </a:rPr>
                        <a:t>ML raises prediction accuracy</a:t>
                      </a:r>
                    </a:p>
                  </a:txBody>
                  <a:tcPr>
                    <a:solidFill>
                      <a:srgbClr val="F2F5F7"/>
                    </a:solidFill>
                  </a:tcPr>
                </a:tc>
                <a:tc>
                  <a:txBody>
                    <a:bodyPr/>
                    <a:lstStyle/>
                    <a:p>
                      <a:r>
                        <a:rPr sz="1300" b="0">
                          <a:solidFill>
                            <a:srgbClr val="1F2A33"/>
                          </a:solidFill>
                          <a:latin typeface="Calibri"/>
                        </a:rPr>
                        <a:t>Mostly theory, no real mobile system</a:t>
                      </a:r>
                    </a:p>
                  </a:txBody>
                  <a:tcPr>
                    <a:solidFill>
                      <a:srgbClr val="F2F5F7"/>
                    </a:solidFill>
                  </a:tcPr>
                </a:tc>
              </a:tr>
              <a:tr h="365760">
                <a:tc>
                  <a:txBody>
                    <a:bodyPr/>
                    <a:lstStyle/>
                    <a:p>
                      <a:r>
                        <a:rPr sz="1300" b="0">
                          <a:solidFill>
                            <a:srgbClr val="1F2A33"/>
                          </a:solidFill>
                          <a:latin typeface="Calibri"/>
                        </a:rPr>
                        <a:t>Veterinary decision support</a:t>
                      </a:r>
                    </a:p>
                  </a:txBody>
                  <a:tcPr>
                    <a:solidFill>
                      <a:srgbClr val="FFFFFF"/>
                    </a:solidFill>
                  </a:tcPr>
                </a:tc>
                <a:tc>
                  <a:txBody>
                    <a:bodyPr/>
                    <a:lstStyle/>
                    <a:p>
                      <a:r>
                        <a:rPr sz="1300" b="0">
                          <a:solidFill>
                            <a:srgbClr val="1F2A33"/>
                          </a:solidFill>
                          <a:latin typeface="Calibri"/>
                        </a:rPr>
                        <a:t>AI can support vet decisions</a:t>
                      </a:r>
                    </a:p>
                  </a:txBody>
                  <a:tcPr>
                    <a:solidFill>
                      <a:srgbClr val="FFFFFF"/>
                    </a:solidFill>
                  </a:tcPr>
                </a:tc>
                <a:tc>
                  <a:txBody>
                    <a:bodyPr/>
                    <a:lstStyle/>
                    <a:p>
                      <a:r>
                        <a:rPr sz="1300" b="0">
                          <a:solidFill>
                            <a:srgbClr val="1F2A33"/>
                          </a:solidFill>
                          <a:latin typeface="Calibri"/>
                        </a:rPr>
                        <a:t>Clinical only, not preventive</a:t>
                      </a:r>
                    </a:p>
                  </a:txBody>
                  <a:tcPr>
                    <a:solidFill>
                      <a:srgbClr val="FFFFFF"/>
                    </a:solidFill>
                  </a:tcPr>
                </a:tc>
              </a:tr>
              <a:tr h="365760">
                <a:tc>
                  <a:txBody>
                    <a:bodyPr/>
                    <a:lstStyle/>
                    <a:p>
                      <a:r>
                        <a:rPr sz="1300" b="0">
                          <a:solidFill>
                            <a:srgbClr val="1F2A33"/>
                          </a:solidFill>
                          <a:latin typeface="Calibri"/>
                        </a:rPr>
                        <a:t>Chatbots in pet health</a:t>
                      </a:r>
                    </a:p>
                  </a:txBody>
                  <a:tcPr>
                    <a:solidFill>
                      <a:srgbClr val="F2F5F7"/>
                    </a:solidFill>
                  </a:tcPr>
                </a:tc>
                <a:tc>
                  <a:txBody>
                    <a:bodyPr/>
                    <a:lstStyle/>
                    <a:p>
                      <a:r>
                        <a:rPr sz="1300" b="0">
                          <a:solidFill>
                            <a:srgbClr val="1F2A33"/>
                          </a:solidFill>
                          <a:latin typeface="Calibri"/>
                        </a:rPr>
                        <a:t>Chatbots help owner interaction</a:t>
                      </a:r>
                    </a:p>
                  </a:txBody>
                  <a:tcPr>
                    <a:solidFill>
                      <a:srgbClr val="F2F5F7"/>
                    </a:solidFill>
                  </a:tcPr>
                </a:tc>
                <a:tc>
                  <a:txBody>
                    <a:bodyPr/>
                    <a:lstStyle/>
                    <a:p>
                      <a:r>
                        <a:rPr sz="1300" b="0">
                          <a:solidFill>
                            <a:srgbClr val="1F2A33"/>
                          </a:solidFill>
                          <a:latin typeface="Calibri"/>
                        </a:rPr>
                        <a:t>No autonomous reasoning</a:t>
                      </a:r>
                    </a:p>
                  </a:txBody>
                  <a:tcPr>
                    <a:solidFill>
                      <a:srgbClr val="F2F5F7"/>
                    </a:solidFill>
                  </a:tcPr>
                </a:tc>
              </a:tr>
              <a:tr h="365760">
                <a:tc>
                  <a:txBody>
                    <a:bodyPr/>
                    <a:lstStyle/>
                    <a:p>
                      <a:r>
                        <a:rPr sz="1300" b="0">
                          <a:solidFill>
                            <a:srgbClr val="1F2A33"/>
                          </a:solidFill>
                          <a:latin typeface="Calibri"/>
                        </a:rPr>
                        <a:t>Sensor-based monitoring</a:t>
                      </a:r>
                    </a:p>
                  </a:txBody>
                  <a:tcPr>
                    <a:solidFill>
                      <a:srgbClr val="FFFFFF"/>
                    </a:solidFill>
                  </a:tcPr>
                </a:tc>
                <a:tc>
                  <a:txBody>
                    <a:bodyPr/>
                    <a:lstStyle/>
                    <a:p>
                      <a:r>
                        <a:rPr sz="1300" b="0">
                          <a:solidFill>
                            <a:srgbClr val="1F2A33"/>
                          </a:solidFill>
                          <a:latin typeface="Calibri"/>
                        </a:rPr>
                        <a:t>Behaviour signals show health</a:t>
                      </a:r>
                    </a:p>
                  </a:txBody>
                  <a:tcPr>
                    <a:solidFill>
                      <a:srgbClr val="FFFFFF"/>
                    </a:solidFill>
                  </a:tcPr>
                </a:tc>
                <a:tc>
                  <a:txBody>
                    <a:bodyPr/>
                    <a:lstStyle/>
                    <a:p>
                      <a:r>
                        <a:rPr sz="1300" b="0">
                          <a:solidFill>
                            <a:srgbClr val="1F2A33"/>
                          </a:solidFill>
                          <a:latin typeface="Calibri"/>
                        </a:rPr>
                        <a:t>Needs hardware; no symptom input</a:t>
                      </a:r>
                    </a:p>
                  </a:txBody>
                  <a:tcPr>
                    <a:solidFill>
                      <a:srgbClr val="FFFFFF"/>
                    </a:solidFill>
                  </a:tcPr>
                </a:tc>
              </a:tr>
              <a:tr h="365760">
                <a:tc>
                  <a:txBody>
                    <a:bodyPr/>
                    <a:lstStyle/>
                    <a:p>
                      <a:r>
                        <a:rPr sz="1300" b="0">
                          <a:solidFill>
                            <a:srgbClr val="1F2A33"/>
                          </a:solidFill>
                          <a:latin typeface="Calibri"/>
                        </a:rPr>
                        <a:t>Dog health score systems</a:t>
                      </a:r>
                    </a:p>
                  </a:txBody>
                  <a:tcPr>
                    <a:solidFill>
                      <a:srgbClr val="F2F5F7"/>
                    </a:solidFill>
                  </a:tcPr>
                </a:tc>
                <a:tc>
                  <a:txBody>
                    <a:bodyPr/>
                    <a:lstStyle/>
                    <a:p>
                      <a:r>
                        <a:rPr sz="1300" b="0">
                          <a:solidFill>
                            <a:srgbClr val="1F2A33"/>
                          </a:solidFill>
                          <a:latin typeface="Calibri"/>
                        </a:rPr>
                        <a:t>Scores agree with vet diagnosis</a:t>
                      </a:r>
                    </a:p>
                  </a:txBody>
                  <a:tcPr>
                    <a:solidFill>
                      <a:srgbClr val="F2F5F7"/>
                    </a:solidFill>
                  </a:tcPr>
                </a:tc>
                <a:tc>
                  <a:txBody>
                    <a:bodyPr/>
                    <a:lstStyle/>
                    <a:p>
                      <a:r>
                        <a:rPr sz="1300" b="0">
                          <a:solidFill>
                            <a:srgbClr val="1F2A33"/>
                          </a:solidFill>
                          <a:latin typeface="Calibri"/>
                        </a:rPr>
                        <a:t>No reasoning or action guidance</a:t>
                      </a:r>
                    </a:p>
                  </a:txBody>
                  <a:tcPr>
                    <a:solidFill>
                      <a:srgbClr val="F2F5F7"/>
                    </a:solidFill>
                  </a:tcPr>
                </a:tc>
              </a:tr>
            </a:tbl>
          </a:graphicData>
        </a:graphic>
      </p:graphicFrame>
      <p:sp>
        <p:nvSpPr>
          <p:cNvPr id="7" name="TextBox 6"/>
          <p:cNvSpPr txBox="1"/>
          <p:nvPr/>
        </p:nvSpPr>
        <p:spPr>
          <a:xfrm>
            <a:off x="658368" y="4892040"/>
            <a:ext cx="10881360" cy="1463040"/>
          </a:xfrm>
          <a:prstGeom prst="rect">
            <a:avLst/>
          </a:prstGeom>
          <a:noFill/>
        </p:spPr>
        <p:txBody>
          <a:bodyPr wrap="square">
            <a:spAutoFit/>
          </a:bodyPr>
          <a:lstStyle/>
          <a:p>
            <a:pPr>
              <a:spcAft>
                <a:spcPts val="1000"/>
              </a:spcAft>
            </a:pPr>
            <a:r>
              <a:rPr sz="1700" b="0">
                <a:solidFill>
                  <a:srgbClr val="1F2A33"/>
                </a:solidFill>
                <a:latin typeface="Calibri"/>
              </a:rPr>
              <a:t>• Research gap</a:t>
            </a:r>
          </a:p>
          <a:p>
            <a:pPr lvl="1">
              <a:spcAft>
                <a:spcPts val="1000"/>
              </a:spcAft>
            </a:pPr>
            <a:r>
              <a:rPr sz="1500" b="0">
                <a:solidFill>
                  <a:srgbClr val="5B6B77"/>
                </a:solidFill>
                <a:latin typeface="Calibri"/>
              </a:rPr>
              <a:t>– No owner-facing system that reasons on its own, explains why, and acts on the result.</a:t>
            </a:r>
          </a:p>
          <a:p>
            <a:pPr lvl="1">
              <a:spcAft>
                <a:spcPts val="1000"/>
              </a:spcAft>
            </a:pPr>
            <a:r>
              <a:rPr sz="1500" b="0">
                <a:solidFill>
                  <a:srgbClr val="5B6B77"/>
                </a:solidFill>
                <a:latin typeface="Calibri"/>
              </a:rPr>
              <a:t>– Nothing built for Sri Lanka or available in Sinhala and Tamil.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0515600" cy="822960"/>
          </a:xfrm>
          <a:prstGeom prst="rect">
            <a:avLst/>
          </a:prstGeom>
          <a:noFill/>
        </p:spPr>
        <p:txBody>
          <a:bodyPr wrap="square">
            <a:spAutoFit/>
          </a:bodyPr>
          <a:lstStyle/>
          <a:p>
            <a:r>
              <a:rPr sz="3000" b="1">
                <a:solidFill>
                  <a:srgbClr val="FFFFFF"/>
                </a:solidFill>
                <a:latin typeface="Calibri"/>
              </a:rPr>
              <a:t>Research Methodology</a:t>
            </a:r>
          </a:p>
          <a:p>
            <a:r>
              <a:rPr sz="1300">
                <a:solidFill>
                  <a:srgbClr val="B8CDD8"/>
                </a:solidFill>
                <a:latin typeface="Calibri"/>
              </a:rPr>
              <a:t>Approach · Design · Data · Tools</a:t>
            </a:r>
          </a:p>
        </p:txBody>
      </p:sp>
      <p:sp>
        <p:nvSpPr>
          <p:cNvPr id="5" name="TextBox 4"/>
          <p:cNvSpPr txBox="1"/>
          <p:nvPr/>
        </p:nvSpPr>
        <p:spPr>
          <a:xfrm>
            <a:off x="11064240" y="256032"/>
            <a:ext cx="822960" cy="548640"/>
          </a:xfrm>
          <a:prstGeom prst="rect">
            <a:avLst/>
          </a:prstGeom>
          <a:noFill/>
        </p:spPr>
        <p:txBody>
          <a:bodyPr wrap="square">
            <a:spAutoFit/>
          </a:bodyPr>
          <a:lstStyle/>
          <a:p>
            <a:pPr algn="r"/>
            <a:r>
              <a:rPr sz="2600" b="1">
                <a:solidFill>
                  <a:srgbClr val="0E7C86"/>
                </a:solidFill>
                <a:latin typeface="Calibri"/>
              </a:rPr>
              <a:t>04</a:t>
            </a:r>
          </a:p>
        </p:txBody>
      </p:sp>
      <p:sp>
        <p:nvSpPr>
          <p:cNvPr id="6" name="TextBox 5"/>
          <p:cNvSpPr txBox="1"/>
          <p:nvPr/>
        </p:nvSpPr>
        <p:spPr>
          <a:xfrm>
            <a:off x="658368" y="1463040"/>
            <a:ext cx="5120640" cy="4937760"/>
          </a:xfrm>
          <a:prstGeom prst="rect">
            <a:avLst/>
          </a:prstGeom>
          <a:noFill/>
        </p:spPr>
        <p:txBody>
          <a:bodyPr wrap="square">
            <a:spAutoFit/>
          </a:bodyPr>
          <a:lstStyle/>
          <a:p>
            <a:pPr>
              <a:spcAft>
                <a:spcPts val="1000"/>
              </a:spcAft>
            </a:pPr>
            <a:r>
              <a:rPr sz="1700" b="0">
                <a:solidFill>
                  <a:srgbClr val="1F2A33"/>
                </a:solidFill>
                <a:latin typeface="Calibri"/>
              </a:rPr>
              <a:t>• Approach</a:t>
            </a:r>
          </a:p>
          <a:p>
            <a:pPr lvl="1">
              <a:spcAft>
                <a:spcPts val="1000"/>
              </a:spcAft>
            </a:pPr>
            <a:r>
              <a:rPr sz="1500" b="0">
                <a:solidFill>
                  <a:srgbClr val="5B6B77"/>
                </a:solidFill>
                <a:latin typeface="Calibri"/>
              </a:rPr>
              <a:t>– Design Science Research — build an artefact, then evaluate it.</a:t>
            </a:r>
          </a:p>
          <a:p>
            <a:pPr>
              <a:spcAft>
                <a:spcPts val="1000"/>
              </a:spcAft>
            </a:pPr>
            <a:r>
              <a:rPr sz="1700" b="0">
                <a:solidFill>
                  <a:srgbClr val="1F2A33"/>
                </a:solidFill>
                <a:latin typeface="Calibri"/>
              </a:rPr>
              <a:t>• Development</a:t>
            </a:r>
          </a:p>
          <a:p>
            <a:pPr lvl="1">
              <a:spcAft>
                <a:spcPts val="1000"/>
              </a:spcAft>
            </a:pPr>
            <a:r>
              <a:rPr sz="1500" b="0">
                <a:solidFill>
                  <a:srgbClr val="5B6B77"/>
                </a:solidFill>
                <a:latin typeface="Calibri"/>
              </a:rPr>
              <a:t>– Agile, in short cycles. Each feature built and tested.</a:t>
            </a:r>
          </a:p>
          <a:p>
            <a:pPr>
              <a:spcAft>
                <a:spcPts val="1000"/>
              </a:spcAft>
            </a:pPr>
            <a:r>
              <a:rPr sz="1700" b="0">
                <a:solidFill>
                  <a:srgbClr val="1F2A33"/>
                </a:solidFill>
                <a:latin typeface="Calibri"/>
              </a:rPr>
              <a:t>• Data collection</a:t>
            </a:r>
          </a:p>
          <a:p>
            <a:pPr lvl="1">
              <a:spcAft>
                <a:spcPts val="1000"/>
              </a:spcAft>
            </a:pPr>
            <a:r>
              <a:rPr sz="1500" b="0">
                <a:solidFill>
                  <a:srgbClr val="5B6B77"/>
                </a:solidFill>
                <a:latin typeface="Calibri"/>
              </a:rPr>
              <a:t>– Primary: 31 pet owner responses (symptom survey).</a:t>
            </a:r>
          </a:p>
          <a:p>
            <a:pPr lvl="1">
              <a:spcAft>
                <a:spcPts val="1000"/>
              </a:spcAft>
            </a:pPr>
            <a:r>
              <a:rPr sz="1500" b="0">
                <a:solidFill>
                  <a:srgbClr val="5B6B77"/>
                </a:solidFill>
                <a:latin typeface="Calibri"/>
              </a:rPr>
              <a:t>– Secondary: two public pet symptom datasets.</a:t>
            </a:r>
          </a:p>
        </p:txBody>
      </p:sp>
      <p:sp>
        <p:nvSpPr>
          <p:cNvPr id="7" name="TextBox 6"/>
          <p:cNvSpPr txBox="1"/>
          <p:nvPr/>
        </p:nvSpPr>
        <p:spPr>
          <a:xfrm>
            <a:off x="6126480" y="1463040"/>
            <a:ext cx="5486400" cy="4937760"/>
          </a:xfrm>
          <a:prstGeom prst="rect">
            <a:avLst/>
          </a:prstGeom>
          <a:noFill/>
        </p:spPr>
        <p:txBody>
          <a:bodyPr wrap="square">
            <a:spAutoFit/>
          </a:bodyPr>
          <a:lstStyle/>
          <a:p>
            <a:pPr>
              <a:spcAft>
                <a:spcPts val="1000"/>
              </a:spcAft>
            </a:pPr>
            <a:r>
              <a:rPr sz="1700" b="0">
                <a:solidFill>
                  <a:srgbClr val="1F2A33"/>
                </a:solidFill>
                <a:latin typeface="Calibri"/>
              </a:rPr>
              <a:t>• Data analysis</a:t>
            </a:r>
          </a:p>
          <a:p>
            <a:pPr lvl="1">
              <a:spcAft>
                <a:spcPts val="1000"/>
              </a:spcAft>
            </a:pPr>
            <a:r>
              <a:rPr sz="1500" b="0">
                <a:solidFill>
                  <a:srgbClr val="5B6B77"/>
                </a:solidFill>
                <a:latin typeface="Calibri"/>
              </a:rPr>
              <a:t>– Accuracy, macro F1 and per-class F1.</a:t>
            </a:r>
          </a:p>
          <a:p>
            <a:pPr lvl="1">
              <a:spcAft>
                <a:spcPts val="1000"/>
              </a:spcAft>
            </a:pPr>
            <a:r>
              <a:rPr sz="1500" b="0">
                <a:solidFill>
                  <a:srgbClr val="5B6B77"/>
                </a:solidFill>
                <a:latin typeface="Calibri"/>
              </a:rPr>
              <a:t>– AI result compared with the vet's confirmed diagnosis.</a:t>
            </a:r>
          </a:p>
          <a:p>
            <a:pPr>
              <a:spcAft>
                <a:spcPts val="1000"/>
              </a:spcAft>
            </a:pPr>
            <a:r>
              <a:rPr sz="1700" b="0">
                <a:solidFill>
                  <a:srgbClr val="1F2A33"/>
                </a:solidFill>
                <a:latin typeface="Calibri"/>
              </a:rPr>
              <a:t>• Tools and technologies</a:t>
            </a:r>
          </a:p>
          <a:p>
            <a:pPr lvl="1">
              <a:spcAft>
                <a:spcPts val="1000"/>
              </a:spcAft>
            </a:pPr>
            <a:r>
              <a:rPr sz="1500" b="0">
                <a:solidFill>
                  <a:srgbClr val="5B6B77"/>
                </a:solidFill>
                <a:latin typeface="Calibri"/>
              </a:rPr>
              <a:t>– React + TypeScript front end (installable web app).</a:t>
            </a:r>
          </a:p>
          <a:p>
            <a:pPr lvl="1">
              <a:spcAft>
                <a:spcPts val="1000"/>
              </a:spcAft>
            </a:pPr>
            <a:r>
              <a:rPr sz="1500" b="0">
                <a:solidFill>
                  <a:srgbClr val="5B6B77"/>
                </a:solidFill>
                <a:latin typeface="Calibri"/>
              </a:rPr>
              <a:t>– Node.js services and Python FastAPI for AI.</a:t>
            </a:r>
          </a:p>
          <a:p>
            <a:pPr lvl="1">
              <a:spcAft>
                <a:spcPts val="1000"/>
              </a:spcAft>
            </a:pPr>
            <a:r>
              <a:rPr sz="1500" b="0">
                <a:solidFill>
                  <a:srgbClr val="5B6B77"/>
                </a:solidFill>
                <a:latin typeface="Calibri"/>
              </a:rPr>
              <a:t>– MongoDB for data, Neo4j for the disease ontology.</a:t>
            </a:r>
          </a:p>
          <a:p>
            <a:pPr lvl="1">
              <a:spcAft>
                <a:spcPts val="1000"/>
              </a:spcAft>
            </a:pPr>
            <a:r>
              <a:rPr sz="1500" b="0">
                <a:solidFill>
                  <a:srgbClr val="5B6B77"/>
                </a:solidFill>
                <a:latin typeface="Calibri"/>
              </a:rPr>
              <a:t>– Docker Compose to run everything together.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0515600" cy="822960"/>
          </a:xfrm>
          <a:prstGeom prst="rect">
            <a:avLst/>
          </a:prstGeom>
          <a:noFill/>
        </p:spPr>
        <p:txBody>
          <a:bodyPr wrap="square">
            <a:spAutoFit/>
          </a:bodyPr>
          <a:lstStyle/>
          <a:p>
            <a:r>
              <a:rPr sz="3000" b="1">
                <a:solidFill>
                  <a:srgbClr val="FFFFFF"/>
                </a:solidFill>
                <a:latin typeface="Calibri"/>
              </a:rPr>
              <a:t>System Analysis and Design</a:t>
            </a:r>
          </a:p>
          <a:p>
            <a:r>
              <a:rPr sz="1300">
                <a:solidFill>
                  <a:srgbClr val="B8CDD8"/>
                </a:solidFill>
                <a:latin typeface="Calibri"/>
              </a:rPr>
              <a:t>Requirements</a:t>
            </a:r>
          </a:p>
        </p:txBody>
      </p:sp>
      <p:sp>
        <p:nvSpPr>
          <p:cNvPr id="5" name="TextBox 4"/>
          <p:cNvSpPr txBox="1"/>
          <p:nvPr/>
        </p:nvSpPr>
        <p:spPr>
          <a:xfrm>
            <a:off x="11064240" y="256032"/>
            <a:ext cx="822960" cy="548640"/>
          </a:xfrm>
          <a:prstGeom prst="rect">
            <a:avLst/>
          </a:prstGeom>
          <a:noFill/>
        </p:spPr>
        <p:txBody>
          <a:bodyPr wrap="square">
            <a:spAutoFit/>
          </a:bodyPr>
          <a:lstStyle/>
          <a:p>
            <a:pPr algn="r"/>
            <a:r>
              <a:rPr sz="2600" b="1">
                <a:solidFill>
                  <a:srgbClr val="0E7C86"/>
                </a:solidFill>
                <a:latin typeface="Calibri"/>
              </a:rPr>
              <a:t>05</a:t>
            </a:r>
          </a:p>
        </p:txBody>
      </p:sp>
      <p:sp>
        <p:nvSpPr>
          <p:cNvPr id="6" name="TextBox 5"/>
          <p:cNvSpPr txBox="1"/>
          <p:nvPr/>
        </p:nvSpPr>
        <p:spPr>
          <a:xfrm>
            <a:off x="658368" y="1463040"/>
            <a:ext cx="5669280" cy="4937760"/>
          </a:xfrm>
          <a:prstGeom prst="rect">
            <a:avLst/>
          </a:prstGeom>
          <a:noFill/>
        </p:spPr>
        <p:txBody>
          <a:bodyPr wrap="square">
            <a:spAutoFit/>
          </a:bodyPr>
          <a:lstStyle/>
          <a:p>
            <a:pPr>
              <a:spcAft>
                <a:spcPts val="1000"/>
              </a:spcAft>
            </a:pPr>
            <a:r>
              <a:rPr sz="1600" b="0">
                <a:solidFill>
                  <a:srgbClr val="1F2A33"/>
                </a:solidFill>
                <a:latin typeface="Calibri"/>
              </a:rPr>
              <a:t>• Functional requirements</a:t>
            </a:r>
          </a:p>
          <a:p>
            <a:pPr lvl="1">
              <a:spcAft>
                <a:spcPts val="1000"/>
              </a:spcAft>
            </a:pPr>
            <a:r>
              <a:rPr sz="1400" b="0">
                <a:solidFill>
                  <a:srgbClr val="5B6B77"/>
                </a:solidFill>
                <a:latin typeface="Calibri"/>
              </a:rPr>
              <a:t>– Register and log in securely.</a:t>
            </a:r>
          </a:p>
          <a:p>
            <a:pPr lvl="1">
              <a:spcAft>
                <a:spcPts val="1000"/>
              </a:spcAft>
            </a:pPr>
            <a:r>
              <a:rPr sz="1400" b="0">
                <a:solidFill>
                  <a:srgbClr val="5B6B77"/>
                </a:solidFill>
                <a:latin typeface="Calibri"/>
              </a:rPr>
              <a:t>– Create and manage pet profiles.</a:t>
            </a:r>
          </a:p>
          <a:p>
            <a:pPr lvl="1">
              <a:spcAft>
                <a:spcPts val="1000"/>
              </a:spcAft>
            </a:pPr>
            <a:r>
              <a:rPr sz="1400" b="0">
                <a:solidFill>
                  <a:srgbClr val="5B6B77"/>
                </a:solidFill>
                <a:latin typeface="Calibri"/>
              </a:rPr>
              <a:t>– Predict disease risk from symptoms.</a:t>
            </a:r>
          </a:p>
          <a:p>
            <a:pPr lvl="1">
              <a:spcAft>
                <a:spcPts val="1000"/>
              </a:spcAft>
            </a:pPr>
            <a:r>
              <a:rPr sz="1400" b="0">
                <a:solidFill>
                  <a:srgbClr val="5B6B77"/>
                </a:solidFill>
                <a:latin typeface="Calibri"/>
              </a:rPr>
              <a:t>– Agentic AI gives advice and urgency.</a:t>
            </a:r>
          </a:p>
          <a:p>
            <a:pPr lvl="1">
              <a:spcAft>
                <a:spcPts val="1000"/>
              </a:spcAft>
            </a:pPr>
            <a:r>
              <a:rPr sz="1400" b="0">
                <a:solidFill>
                  <a:srgbClr val="5B6B77"/>
                </a:solidFill>
                <a:latin typeface="Calibri"/>
              </a:rPr>
              <a:t>– Explain the result in plain words.</a:t>
            </a:r>
          </a:p>
          <a:p>
            <a:pPr lvl="1">
              <a:spcAft>
                <a:spcPts val="1000"/>
              </a:spcAft>
            </a:pPr>
            <a:r>
              <a:rPr sz="1400" b="0">
                <a:solidFill>
                  <a:srgbClr val="5B6B77"/>
                </a:solidFill>
                <a:latin typeface="Calibri"/>
              </a:rPr>
              <a:t>– Find clinics, surgeons and free time slots.</a:t>
            </a:r>
          </a:p>
          <a:p>
            <a:pPr lvl="1">
              <a:spcAft>
                <a:spcPts val="1000"/>
              </a:spcAft>
            </a:pPr>
            <a:r>
              <a:rPr sz="1400" b="0">
                <a:solidFill>
                  <a:srgbClr val="5B6B77"/>
                </a:solidFill>
                <a:latin typeface="Calibri"/>
              </a:rPr>
              <a:t>– Book, reschedule and cancel appointments.</a:t>
            </a:r>
          </a:p>
          <a:p>
            <a:pPr lvl="1">
              <a:spcAft>
                <a:spcPts val="1000"/>
              </a:spcAft>
            </a:pPr>
            <a:r>
              <a:rPr sz="1400" b="0">
                <a:solidFill>
                  <a:srgbClr val="5B6B77"/>
                </a:solidFill>
                <a:latin typeface="Calibri"/>
              </a:rPr>
              <a:t>– Track vaccinations and send reminders.</a:t>
            </a:r>
          </a:p>
          <a:p>
            <a:pPr lvl="1">
              <a:spcAft>
                <a:spcPts val="1000"/>
              </a:spcAft>
            </a:pPr>
            <a:r>
              <a:rPr sz="1400" b="0">
                <a:solidFill>
                  <a:srgbClr val="5B6B77"/>
                </a:solidFill>
                <a:latin typeface="Calibri"/>
              </a:rPr>
              <a:t>– Keep health history and notifications.</a:t>
            </a:r>
          </a:p>
        </p:txBody>
      </p:sp>
      <p:sp>
        <p:nvSpPr>
          <p:cNvPr id="7" name="TextBox 6"/>
          <p:cNvSpPr txBox="1"/>
          <p:nvPr/>
        </p:nvSpPr>
        <p:spPr>
          <a:xfrm>
            <a:off x="6492240" y="1463040"/>
            <a:ext cx="5120640" cy="4937760"/>
          </a:xfrm>
          <a:prstGeom prst="rect">
            <a:avLst/>
          </a:prstGeom>
          <a:noFill/>
        </p:spPr>
        <p:txBody>
          <a:bodyPr wrap="square">
            <a:spAutoFit/>
          </a:bodyPr>
          <a:lstStyle/>
          <a:p>
            <a:pPr>
              <a:spcAft>
                <a:spcPts val="1000"/>
              </a:spcAft>
            </a:pPr>
            <a:r>
              <a:rPr sz="1600" b="0">
                <a:solidFill>
                  <a:srgbClr val="1F2A33"/>
                </a:solidFill>
                <a:latin typeface="Calibri"/>
              </a:rPr>
              <a:t>• Non-functional requirements</a:t>
            </a:r>
          </a:p>
          <a:p>
            <a:pPr lvl="1">
              <a:spcAft>
                <a:spcPts val="1000"/>
              </a:spcAft>
            </a:pPr>
            <a:r>
              <a:rPr sz="1400" b="0">
                <a:solidFill>
                  <a:srgbClr val="5B6B77"/>
                </a:solidFill>
                <a:latin typeface="Calibri"/>
              </a:rPr>
              <a:t>– Security — JWT login, role-based access.</a:t>
            </a:r>
          </a:p>
          <a:p>
            <a:pPr lvl="1">
              <a:spcAft>
                <a:spcPts val="1000"/>
              </a:spcAft>
            </a:pPr>
            <a:r>
              <a:rPr sz="1400" b="0">
                <a:solidFill>
                  <a:srgbClr val="5B6B77"/>
                </a:solidFill>
                <a:latin typeface="Calibri"/>
              </a:rPr>
              <a:t>– Privacy — a vet sees a pet only with a valid link.</a:t>
            </a:r>
          </a:p>
          <a:p>
            <a:pPr lvl="1">
              <a:spcAft>
                <a:spcPts val="1000"/>
              </a:spcAft>
            </a:pPr>
            <a:r>
              <a:rPr sz="1400" b="0">
                <a:solidFill>
                  <a:srgbClr val="5B6B77"/>
                </a:solidFill>
                <a:latin typeface="Calibri"/>
              </a:rPr>
              <a:t>– Usability — three languages: English, Sinhala, Tamil.</a:t>
            </a:r>
          </a:p>
          <a:p>
            <a:pPr lvl="1">
              <a:spcAft>
                <a:spcPts val="1000"/>
              </a:spcAft>
            </a:pPr>
            <a:r>
              <a:rPr sz="1400" b="0">
                <a:solidFill>
                  <a:srgbClr val="5B6B77"/>
                </a:solidFill>
                <a:latin typeface="Calibri"/>
              </a:rPr>
              <a:t>– Reliability — services recover on their own.</a:t>
            </a:r>
          </a:p>
          <a:p>
            <a:pPr lvl="1">
              <a:spcAft>
                <a:spcPts val="1000"/>
              </a:spcAft>
            </a:pPr>
            <a:r>
              <a:rPr sz="1400" b="0">
                <a:solidFill>
                  <a:srgbClr val="5B6B77"/>
                </a:solidFill>
                <a:latin typeface="Calibri"/>
              </a:rPr>
              <a:t>– Performance — result in a few seconds.</a:t>
            </a:r>
          </a:p>
          <a:p>
            <a:pPr lvl="1">
              <a:spcAft>
                <a:spcPts val="1000"/>
              </a:spcAft>
            </a:pPr>
            <a:r>
              <a:rPr sz="1400" b="0">
                <a:solidFill>
                  <a:srgbClr val="5B6B77"/>
                </a:solidFill>
                <a:latin typeface="Calibri"/>
              </a:rPr>
              <a:t>– Maintainability — separate services, shared types.</a:t>
            </a:r>
          </a:p>
          <a:p>
            <a:pPr>
              <a:spcAft>
                <a:spcPts val="1000"/>
              </a:spcAft>
            </a:pPr>
            <a:r>
              <a:rPr sz="1600" b="0">
                <a:solidFill>
                  <a:srgbClr val="1F2A33"/>
                </a:solidFill>
                <a:latin typeface="Calibri"/>
              </a:rPr>
              <a:t>• Important rule</a:t>
            </a:r>
          </a:p>
          <a:p>
            <a:pPr lvl="1">
              <a:spcAft>
                <a:spcPts val="1000"/>
              </a:spcAft>
            </a:pPr>
            <a:r>
              <a:rPr sz="1400" b="0">
                <a:solidFill>
                  <a:srgbClr val="5B6B77"/>
                </a:solidFill>
                <a:latin typeface="Calibri"/>
              </a:rPr>
              <a:t>– Every result shows a decision-support disclaimer.</a:t>
            </a:r>
          </a:p>
          <a:p>
            <a:pPr lvl="1">
              <a:spcAft>
                <a:spcPts val="1000"/>
              </a:spcAft>
            </a:pPr>
            <a:r>
              <a:rPr sz="1400" b="0">
                <a:solidFill>
                  <a:srgbClr val="5B6B77"/>
                </a:solidFill>
                <a:latin typeface="Calibri"/>
              </a:rPr>
              <a:t>– The system supports decisions. It does not diagnose.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0515600" cy="822960"/>
          </a:xfrm>
          <a:prstGeom prst="rect">
            <a:avLst/>
          </a:prstGeom>
          <a:noFill/>
        </p:spPr>
        <p:txBody>
          <a:bodyPr wrap="square">
            <a:spAutoFit/>
          </a:bodyPr>
          <a:lstStyle/>
          <a:p>
            <a:r>
              <a:rPr sz="3000" b="1">
                <a:solidFill>
                  <a:srgbClr val="FFFFFF"/>
                </a:solidFill>
                <a:latin typeface="Calibri"/>
              </a:rPr>
              <a:t>System Architecture</a:t>
            </a:r>
          </a:p>
          <a:p>
            <a:r>
              <a:rPr sz="1300">
                <a:solidFill>
                  <a:srgbClr val="B8CDD8"/>
                </a:solidFill>
                <a:latin typeface="Calibri"/>
              </a:rPr>
              <a:t>Micro-services behind one API gateway</a:t>
            </a:r>
          </a:p>
        </p:txBody>
      </p:sp>
      <p:sp>
        <p:nvSpPr>
          <p:cNvPr id="5" name="TextBox 4"/>
          <p:cNvSpPr txBox="1"/>
          <p:nvPr/>
        </p:nvSpPr>
        <p:spPr>
          <a:xfrm>
            <a:off x="11064240" y="256032"/>
            <a:ext cx="822960" cy="548640"/>
          </a:xfrm>
          <a:prstGeom prst="rect">
            <a:avLst/>
          </a:prstGeom>
          <a:noFill/>
        </p:spPr>
        <p:txBody>
          <a:bodyPr wrap="square">
            <a:spAutoFit/>
          </a:bodyPr>
          <a:lstStyle/>
          <a:p>
            <a:pPr algn="r"/>
            <a:r>
              <a:rPr sz="2600" b="1">
                <a:solidFill>
                  <a:srgbClr val="0E7C86"/>
                </a:solidFill>
                <a:latin typeface="Calibri"/>
              </a:rPr>
              <a:t>06</a:t>
            </a:r>
          </a:p>
        </p:txBody>
      </p:sp>
      <p:pic>
        <p:nvPicPr>
          <p:cNvPr id="6" name="Picture 5" descr="fig06-architecture.png"/>
          <p:cNvPicPr>
            <a:picLocks noChangeAspect="1"/>
          </p:cNvPicPr>
          <p:nvPr/>
        </p:nvPicPr>
        <p:blipFill>
          <a:blip r:embed="rId2"/>
          <a:stretch>
            <a:fillRect/>
          </a:stretch>
        </p:blipFill>
        <p:spPr>
          <a:xfrm>
            <a:off x="1841777" y="1463040"/>
            <a:ext cx="8508140" cy="49377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0515600" cy="822960"/>
          </a:xfrm>
          <a:prstGeom prst="rect">
            <a:avLst/>
          </a:prstGeom>
          <a:noFill/>
        </p:spPr>
        <p:txBody>
          <a:bodyPr wrap="square">
            <a:spAutoFit/>
          </a:bodyPr>
          <a:lstStyle/>
          <a:p>
            <a:r>
              <a:rPr sz="3000" b="1">
                <a:solidFill>
                  <a:srgbClr val="FFFFFF"/>
                </a:solidFill>
                <a:latin typeface="Calibri"/>
              </a:rPr>
              <a:t>Use Case Diagram</a:t>
            </a:r>
          </a:p>
          <a:p>
            <a:r>
              <a:rPr sz="1300">
                <a:solidFill>
                  <a:srgbClr val="B8CDD8"/>
                </a:solidFill>
                <a:latin typeface="Calibri"/>
              </a:rPr>
              <a:t>Three roles: pet owner, veterinarian, administrator</a:t>
            </a:r>
          </a:p>
        </p:txBody>
      </p:sp>
      <p:sp>
        <p:nvSpPr>
          <p:cNvPr id="5" name="TextBox 4"/>
          <p:cNvSpPr txBox="1"/>
          <p:nvPr/>
        </p:nvSpPr>
        <p:spPr>
          <a:xfrm>
            <a:off x="11064240" y="256032"/>
            <a:ext cx="822960" cy="548640"/>
          </a:xfrm>
          <a:prstGeom prst="rect">
            <a:avLst/>
          </a:prstGeom>
          <a:noFill/>
        </p:spPr>
        <p:txBody>
          <a:bodyPr wrap="square">
            <a:spAutoFit/>
          </a:bodyPr>
          <a:lstStyle/>
          <a:p>
            <a:pPr algn="r"/>
            <a:r>
              <a:rPr sz="2600" b="1">
                <a:solidFill>
                  <a:srgbClr val="0E7C86"/>
                </a:solidFill>
                <a:latin typeface="Calibri"/>
              </a:rPr>
              <a:t>07</a:t>
            </a:r>
          </a:p>
        </p:txBody>
      </p:sp>
      <p:pic>
        <p:nvPicPr>
          <p:cNvPr id="6" name="Picture 5" descr="fig02-use-case.png"/>
          <p:cNvPicPr>
            <a:picLocks noChangeAspect="1"/>
          </p:cNvPicPr>
          <p:nvPr/>
        </p:nvPicPr>
        <p:blipFill>
          <a:blip r:embed="rId2"/>
          <a:stretch>
            <a:fillRect/>
          </a:stretch>
        </p:blipFill>
        <p:spPr>
          <a:xfrm>
            <a:off x="4644872" y="1463040"/>
            <a:ext cx="2901951" cy="49377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0515600" cy="822960"/>
          </a:xfrm>
          <a:prstGeom prst="rect">
            <a:avLst/>
          </a:prstGeom>
          <a:noFill/>
        </p:spPr>
        <p:txBody>
          <a:bodyPr wrap="square">
            <a:spAutoFit/>
          </a:bodyPr>
          <a:lstStyle/>
          <a:p>
            <a:r>
              <a:rPr sz="3000" b="1">
                <a:solidFill>
                  <a:srgbClr val="FFFFFF"/>
                </a:solidFill>
                <a:latin typeface="Calibri"/>
              </a:rPr>
              <a:t>ER Diagram and Database Design</a:t>
            </a:r>
          </a:p>
          <a:p>
            <a:r>
              <a:rPr sz="1300">
                <a:solidFill>
                  <a:srgbClr val="B8CDD8"/>
                </a:solidFill>
                <a:latin typeface="Calibri"/>
              </a:rPr>
              <a:t>MongoDB collections and their links</a:t>
            </a:r>
          </a:p>
        </p:txBody>
      </p:sp>
      <p:sp>
        <p:nvSpPr>
          <p:cNvPr id="5" name="TextBox 4"/>
          <p:cNvSpPr txBox="1"/>
          <p:nvPr/>
        </p:nvSpPr>
        <p:spPr>
          <a:xfrm>
            <a:off x="11064240" y="256032"/>
            <a:ext cx="822960" cy="548640"/>
          </a:xfrm>
          <a:prstGeom prst="rect">
            <a:avLst/>
          </a:prstGeom>
          <a:noFill/>
        </p:spPr>
        <p:txBody>
          <a:bodyPr wrap="square">
            <a:spAutoFit/>
          </a:bodyPr>
          <a:lstStyle/>
          <a:p>
            <a:pPr algn="r"/>
            <a:r>
              <a:rPr sz="2600" b="1">
                <a:solidFill>
                  <a:srgbClr val="0E7C86"/>
                </a:solidFill>
                <a:latin typeface="Calibri"/>
              </a:rPr>
              <a:t>08</a:t>
            </a:r>
          </a:p>
        </p:txBody>
      </p:sp>
      <p:pic>
        <p:nvPicPr>
          <p:cNvPr id="6" name="Picture 5" descr="fig03-erd.png"/>
          <p:cNvPicPr>
            <a:picLocks noChangeAspect="1"/>
          </p:cNvPicPr>
          <p:nvPr/>
        </p:nvPicPr>
        <p:blipFill>
          <a:blip r:embed="rId2"/>
          <a:stretch>
            <a:fillRect/>
          </a:stretch>
        </p:blipFill>
        <p:spPr>
          <a:xfrm>
            <a:off x="4532356" y="1463040"/>
            <a:ext cx="3126982" cy="49377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0515600" cy="822960"/>
          </a:xfrm>
          <a:prstGeom prst="rect">
            <a:avLst/>
          </a:prstGeom>
          <a:noFill/>
        </p:spPr>
        <p:txBody>
          <a:bodyPr wrap="square">
            <a:spAutoFit/>
          </a:bodyPr>
          <a:lstStyle/>
          <a:p>
            <a:r>
              <a:rPr sz="3000" b="1">
                <a:solidFill>
                  <a:srgbClr val="FFFFFF"/>
                </a:solidFill>
                <a:latin typeface="Calibri"/>
              </a:rPr>
              <a:t>Class Diagram</a:t>
            </a:r>
          </a:p>
          <a:p>
            <a:r>
              <a:rPr sz="1300">
                <a:solidFill>
                  <a:srgbClr val="B8CDD8"/>
                </a:solidFill>
                <a:latin typeface="Calibri"/>
              </a:rPr>
              <a:t>Main classes and services</a:t>
            </a:r>
          </a:p>
        </p:txBody>
      </p:sp>
      <p:sp>
        <p:nvSpPr>
          <p:cNvPr id="5" name="TextBox 4"/>
          <p:cNvSpPr txBox="1"/>
          <p:nvPr/>
        </p:nvSpPr>
        <p:spPr>
          <a:xfrm>
            <a:off x="11064240" y="256032"/>
            <a:ext cx="822960" cy="548640"/>
          </a:xfrm>
          <a:prstGeom prst="rect">
            <a:avLst/>
          </a:prstGeom>
          <a:noFill/>
        </p:spPr>
        <p:txBody>
          <a:bodyPr wrap="square">
            <a:spAutoFit/>
          </a:bodyPr>
          <a:lstStyle/>
          <a:p>
            <a:pPr algn="r"/>
            <a:r>
              <a:rPr sz="2600" b="1">
                <a:solidFill>
                  <a:srgbClr val="0E7C86"/>
                </a:solidFill>
                <a:latin typeface="Calibri"/>
              </a:rPr>
              <a:t>09</a:t>
            </a:r>
          </a:p>
        </p:txBody>
      </p:sp>
      <p:pic>
        <p:nvPicPr>
          <p:cNvPr id="6" name="Picture 5" descr="fig05-class.png"/>
          <p:cNvPicPr>
            <a:picLocks noChangeAspect="1"/>
          </p:cNvPicPr>
          <p:nvPr/>
        </p:nvPicPr>
        <p:blipFill>
          <a:blip r:embed="rId2"/>
          <a:stretch>
            <a:fillRect/>
          </a:stretch>
        </p:blipFill>
        <p:spPr>
          <a:xfrm>
            <a:off x="4511885" y="1463040"/>
            <a:ext cx="3167924" cy="49377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0515600" cy="822960"/>
          </a:xfrm>
          <a:prstGeom prst="rect">
            <a:avLst/>
          </a:prstGeom>
          <a:noFill/>
        </p:spPr>
        <p:txBody>
          <a:bodyPr wrap="square">
            <a:spAutoFit/>
          </a:bodyPr>
          <a:lstStyle/>
          <a:p>
            <a:r>
              <a:rPr sz="3000" b="1">
                <a:solidFill>
                  <a:srgbClr val="FFFFFF"/>
                </a:solidFill>
                <a:latin typeface="Calibri"/>
              </a:rPr>
              <a:t>Agentic AI Pipeline</a:t>
            </a:r>
          </a:p>
          <a:p>
            <a:r>
              <a:rPr sz="1300">
                <a:solidFill>
                  <a:srgbClr val="B8CDD8"/>
                </a:solidFill>
                <a:latin typeface="Calibri"/>
              </a:rPr>
              <a:t>Four agents working together</a:t>
            </a:r>
          </a:p>
        </p:txBody>
      </p:sp>
      <p:sp>
        <p:nvSpPr>
          <p:cNvPr id="5" name="TextBox 4"/>
          <p:cNvSpPr txBox="1"/>
          <p:nvPr/>
        </p:nvSpPr>
        <p:spPr>
          <a:xfrm>
            <a:off x="11064240" y="256032"/>
            <a:ext cx="822960" cy="548640"/>
          </a:xfrm>
          <a:prstGeom prst="rect">
            <a:avLst/>
          </a:prstGeom>
          <a:noFill/>
        </p:spPr>
        <p:txBody>
          <a:bodyPr wrap="square">
            <a:spAutoFit/>
          </a:bodyPr>
          <a:lstStyle/>
          <a:p>
            <a:pPr algn="r"/>
            <a:r>
              <a:rPr sz="2600" b="1">
                <a:solidFill>
                  <a:srgbClr val="0E7C86"/>
                </a:solidFill>
                <a:latin typeface="Calibri"/>
              </a:rPr>
              <a:t>10</a:t>
            </a:r>
          </a:p>
        </p:txBody>
      </p:sp>
      <p:pic>
        <p:nvPicPr>
          <p:cNvPr id="6" name="Picture 5" descr="fig07-agent-pipeline.png"/>
          <p:cNvPicPr>
            <a:picLocks noChangeAspect="1"/>
          </p:cNvPicPr>
          <p:nvPr/>
        </p:nvPicPr>
        <p:blipFill>
          <a:blip r:embed="rId2"/>
          <a:stretch>
            <a:fillRect/>
          </a:stretch>
        </p:blipFill>
        <p:spPr>
          <a:xfrm>
            <a:off x="792327" y="1463040"/>
            <a:ext cx="10607040" cy="119058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0515600" cy="822960"/>
          </a:xfrm>
          <a:prstGeom prst="rect">
            <a:avLst/>
          </a:prstGeom>
          <a:noFill/>
        </p:spPr>
        <p:txBody>
          <a:bodyPr wrap="square">
            <a:spAutoFit/>
          </a:bodyPr>
          <a:lstStyle/>
          <a:p>
            <a:r>
              <a:rPr sz="3000" b="1">
                <a:solidFill>
                  <a:srgbClr val="FFFFFF"/>
                </a:solidFill>
                <a:latin typeface="Calibri"/>
              </a:rPr>
              <a:t>Development Progress</a:t>
            </a:r>
          </a:p>
          <a:p>
            <a:r>
              <a:rPr sz="1300">
                <a:solidFill>
                  <a:srgbClr val="B8CDD8"/>
                </a:solidFill>
                <a:latin typeface="Calibri"/>
              </a:rPr>
              <a:t>What is built and working</a:t>
            </a:r>
          </a:p>
        </p:txBody>
      </p:sp>
      <p:sp>
        <p:nvSpPr>
          <p:cNvPr id="5" name="TextBox 4"/>
          <p:cNvSpPr txBox="1"/>
          <p:nvPr/>
        </p:nvSpPr>
        <p:spPr>
          <a:xfrm>
            <a:off x="11064240" y="256032"/>
            <a:ext cx="822960" cy="548640"/>
          </a:xfrm>
          <a:prstGeom prst="rect">
            <a:avLst/>
          </a:prstGeom>
          <a:noFill/>
        </p:spPr>
        <p:txBody>
          <a:bodyPr wrap="square">
            <a:spAutoFit/>
          </a:bodyPr>
          <a:lstStyle/>
          <a:p>
            <a:pPr algn="r"/>
            <a:r>
              <a:rPr sz="2600" b="1">
                <a:solidFill>
                  <a:srgbClr val="0E7C86"/>
                </a:solidFill>
                <a:latin typeface="Calibri"/>
              </a:rPr>
              <a:t>11</a:t>
            </a:r>
          </a:p>
        </p:txBody>
      </p:sp>
      <p:sp>
        <p:nvSpPr>
          <p:cNvPr id="6" name="Rectangle 5"/>
          <p:cNvSpPr/>
          <p:nvPr/>
        </p:nvSpPr>
        <p:spPr>
          <a:xfrm>
            <a:off x="658368" y="1600200"/>
            <a:ext cx="1956816" cy="1371600"/>
          </a:xfrm>
          <a:prstGeom prst="rect">
            <a:avLst/>
          </a:prstGeom>
          <a:solidFill>
            <a:srgbClr val="F2F5F7"/>
          </a:solidFill>
          <a:ln>
            <a:solidFill>
              <a:srgbClr val="D8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0E7C86"/>
                </a:solidFill>
                <a:latin typeface="Calibri"/>
              </a:rPr>
              <a:t>13</a:t>
            </a:r>
          </a:p>
          <a:p>
            <a:pPr algn="ctr"/>
            <a:r>
              <a:rPr sz="1200">
                <a:solidFill>
                  <a:srgbClr val="5B6B77"/>
                </a:solidFill>
                <a:latin typeface="Calibri"/>
              </a:rPr>
              <a:t>Docker containers</a:t>
            </a:r>
          </a:p>
        </p:txBody>
      </p:sp>
      <p:sp>
        <p:nvSpPr>
          <p:cNvPr id="7" name="Rectangle 6"/>
          <p:cNvSpPr/>
          <p:nvPr/>
        </p:nvSpPr>
        <p:spPr>
          <a:xfrm>
            <a:off x="2889504" y="1600200"/>
            <a:ext cx="1956816" cy="1371600"/>
          </a:xfrm>
          <a:prstGeom prst="rect">
            <a:avLst/>
          </a:prstGeom>
          <a:solidFill>
            <a:srgbClr val="F2F5F7"/>
          </a:solidFill>
          <a:ln>
            <a:solidFill>
              <a:srgbClr val="D8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0E7C86"/>
                </a:solidFill>
                <a:latin typeface="Calibri"/>
              </a:rPr>
              <a:t>9</a:t>
            </a:r>
          </a:p>
          <a:p>
            <a:pPr algn="ctr"/>
            <a:r>
              <a:rPr sz="1200">
                <a:solidFill>
                  <a:srgbClr val="5B6B77"/>
                </a:solidFill>
                <a:latin typeface="Calibri"/>
              </a:rPr>
              <a:t>back-end services</a:t>
            </a:r>
          </a:p>
        </p:txBody>
      </p:sp>
      <p:sp>
        <p:nvSpPr>
          <p:cNvPr id="8" name="Rectangle 7"/>
          <p:cNvSpPr/>
          <p:nvPr/>
        </p:nvSpPr>
        <p:spPr>
          <a:xfrm>
            <a:off x="5120640" y="1600200"/>
            <a:ext cx="1956816" cy="1371600"/>
          </a:xfrm>
          <a:prstGeom prst="rect">
            <a:avLst/>
          </a:prstGeom>
          <a:solidFill>
            <a:srgbClr val="F2F5F7"/>
          </a:solidFill>
          <a:ln>
            <a:solidFill>
              <a:srgbClr val="D8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0E7C86"/>
                </a:solidFill>
                <a:latin typeface="Calibri"/>
              </a:rPr>
              <a:t>3</a:t>
            </a:r>
          </a:p>
          <a:p>
            <a:pPr algn="ctr"/>
            <a:r>
              <a:rPr sz="1200">
                <a:solidFill>
                  <a:srgbClr val="5B6B77"/>
                </a:solidFill>
                <a:latin typeface="Calibri"/>
              </a:rPr>
              <a:t>role dashboards</a:t>
            </a:r>
          </a:p>
        </p:txBody>
      </p:sp>
      <p:sp>
        <p:nvSpPr>
          <p:cNvPr id="9" name="Rectangle 8"/>
          <p:cNvSpPr/>
          <p:nvPr/>
        </p:nvSpPr>
        <p:spPr>
          <a:xfrm>
            <a:off x="7351776" y="1600200"/>
            <a:ext cx="1956816" cy="1371600"/>
          </a:xfrm>
          <a:prstGeom prst="rect">
            <a:avLst/>
          </a:prstGeom>
          <a:solidFill>
            <a:srgbClr val="F2F5F7"/>
          </a:solidFill>
          <a:ln>
            <a:solidFill>
              <a:srgbClr val="D8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0E7C86"/>
                </a:solidFill>
                <a:latin typeface="Calibri"/>
              </a:rPr>
              <a:t>3</a:t>
            </a:r>
          </a:p>
          <a:p>
            <a:pPr algn="ctr"/>
            <a:r>
              <a:rPr sz="1200">
                <a:solidFill>
                  <a:srgbClr val="5B6B77"/>
                </a:solidFill>
                <a:latin typeface="Calibri"/>
              </a:rPr>
              <a:t>languages (EN/SI/TA)</a:t>
            </a:r>
          </a:p>
        </p:txBody>
      </p:sp>
      <p:sp>
        <p:nvSpPr>
          <p:cNvPr id="10" name="Rectangle 9"/>
          <p:cNvSpPr/>
          <p:nvPr/>
        </p:nvSpPr>
        <p:spPr>
          <a:xfrm>
            <a:off x="9582912" y="1600200"/>
            <a:ext cx="1956816" cy="1371600"/>
          </a:xfrm>
          <a:prstGeom prst="rect">
            <a:avLst/>
          </a:prstGeom>
          <a:solidFill>
            <a:srgbClr val="F2F5F7"/>
          </a:solidFill>
          <a:ln>
            <a:solidFill>
              <a:srgbClr val="D8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0E7C86"/>
                </a:solidFill>
                <a:latin typeface="Calibri"/>
              </a:rPr>
              <a:t>20 / 24</a:t>
            </a:r>
          </a:p>
          <a:p>
            <a:pPr algn="ctr"/>
            <a:r>
              <a:rPr sz="1200">
                <a:solidFill>
                  <a:srgbClr val="5B6B77"/>
                </a:solidFill>
                <a:latin typeface="Calibri"/>
              </a:rPr>
              <a:t>diseases / symptoms in ontology</a:t>
            </a:r>
          </a:p>
        </p:txBody>
      </p:sp>
      <p:sp>
        <p:nvSpPr>
          <p:cNvPr id="11" name="TextBox 10"/>
          <p:cNvSpPr txBox="1"/>
          <p:nvPr/>
        </p:nvSpPr>
        <p:spPr>
          <a:xfrm>
            <a:off x="658368" y="3200400"/>
            <a:ext cx="5394960" cy="3291840"/>
          </a:xfrm>
          <a:prstGeom prst="rect">
            <a:avLst/>
          </a:prstGeom>
          <a:noFill/>
        </p:spPr>
        <p:txBody>
          <a:bodyPr wrap="square">
            <a:spAutoFit/>
          </a:bodyPr>
          <a:lstStyle/>
          <a:p>
            <a:pPr>
              <a:spcAft>
                <a:spcPts val="1000"/>
              </a:spcAft>
            </a:pPr>
            <a:r>
              <a:rPr sz="1600" b="0">
                <a:solidFill>
                  <a:srgbClr val="1F2A33"/>
                </a:solidFill>
                <a:latin typeface="Calibri"/>
              </a:rPr>
              <a:t>• Modules completed</a:t>
            </a:r>
          </a:p>
          <a:p>
            <a:pPr lvl="1">
              <a:spcAft>
                <a:spcPts val="1000"/>
              </a:spcAft>
            </a:pPr>
            <a:r>
              <a:rPr sz="1400" b="0">
                <a:solidFill>
                  <a:srgbClr val="5B6B77"/>
                </a:solidFill>
                <a:latin typeface="Calibri"/>
              </a:rPr>
              <a:t>– Login, registration, role-based access.</a:t>
            </a:r>
          </a:p>
          <a:p>
            <a:pPr lvl="1">
              <a:spcAft>
                <a:spcPts val="1000"/>
              </a:spcAft>
            </a:pPr>
            <a:r>
              <a:rPr sz="1400" b="0">
                <a:solidFill>
                  <a:srgbClr val="5B6B77"/>
                </a:solidFill>
                <a:latin typeface="Calibri"/>
              </a:rPr>
              <a:t>– Pet profiles and health history.</a:t>
            </a:r>
          </a:p>
          <a:p>
            <a:pPr lvl="1">
              <a:spcAft>
                <a:spcPts val="1000"/>
              </a:spcAft>
            </a:pPr>
            <a:r>
              <a:rPr sz="1400" b="0">
                <a:solidFill>
                  <a:srgbClr val="5B6B77"/>
                </a:solidFill>
                <a:latin typeface="Calibri"/>
              </a:rPr>
              <a:t>– Symptom form and risk prediction.</a:t>
            </a:r>
          </a:p>
          <a:p>
            <a:pPr lvl="1">
              <a:spcAft>
                <a:spcPts val="1000"/>
              </a:spcAft>
            </a:pPr>
            <a:r>
              <a:rPr sz="1400" b="0">
                <a:solidFill>
                  <a:srgbClr val="5B6B77"/>
                </a:solidFill>
                <a:latin typeface="Calibri"/>
              </a:rPr>
              <a:t>– Explanation of every result.</a:t>
            </a:r>
          </a:p>
          <a:p>
            <a:pPr lvl="1">
              <a:spcAft>
                <a:spcPts val="1000"/>
              </a:spcAft>
            </a:pPr>
            <a:r>
              <a:rPr sz="1400" b="0">
                <a:solidFill>
                  <a:srgbClr val="5B6B77"/>
                </a:solidFill>
                <a:latin typeface="Calibri"/>
              </a:rPr>
              <a:t>– Clinic map, booking, cancel and reschedule.</a:t>
            </a:r>
          </a:p>
          <a:p>
            <a:pPr lvl="1">
              <a:spcAft>
                <a:spcPts val="1000"/>
              </a:spcAft>
            </a:pPr>
            <a:r>
              <a:rPr sz="1400" b="0">
                <a:solidFill>
                  <a:srgbClr val="5B6B77"/>
                </a:solidFill>
                <a:latin typeface="Calibri"/>
              </a:rPr>
              <a:t>– Vaccination tracking and reminders.</a:t>
            </a:r>
          </a:p>
          <a:p>
            <a:pPr lvl="1">
              <a:spcAft>
                <a:spcPts val="1000"/>
              </a:spcAft>
            </a:pPr>
            <a:r>
              <a:rPr sz="1400" b="0">
                <a:solidFill>
                  <a:srgbClr val="5B6B77"/>
                </a:solidFill>
                <a:latin typeface="Calibri"/>
              </a:rPr>
              <a:t>– Owner–vet inquiry messaging.</a:t>
            </a:r>
          </a:p>
          <a:p>
            <a:pPr lvl="1">
              <a:spcAft>
                <a:spcPts val="1000"/>
              </a:spcAft>
            </a:pPr>
            <a:r>
              <a:rPr sz="1400" b="0">
                <a:solidFill>
                  <a:srgbClr val="5B6B77"/>
                </a:solidFill>
                <a:latin typeface="Calibri"/>
              </a:rPr>
              <a:t>– Admin approvals, tickets and audit log.</a:t>
            </a:r>
          </a:p>
        </p:txBody>
      </p:sp>
      <p:sp>
        <p:nvSpPr>
          <p:cNvPr id="12" name="TextBox 11"/>
          <p:cNvSpPr txBox="1"/>
          <p:nvPr/>
        </p:nvSpPr>
        <p:spPr>
          <a:xfrm>
            <a:off x="6400800" y="3200400"/>
            <a:ext cx="5212080" cy="3291840"/>
          </a:xfrm>
          <a:prstGeom prst="rect">
            <a:avLst/>
          </a:prstGeom>
          <a:noFill/>
        </p:spPr>
        <p:txBody>
          <a:bodyPr wrap="square">
            <a:spAutoFit/>
          </a:bodyPr>
          <a:lstStyle/>
          <a:p>
            <a:pPr>
              <a:spcAft>
                <a:spcPts val="1000"/>
              </a:spcAft>
            </a:pPr>
            <a:r>
              <a:rPr sz="1600" b="0">
                <a:solidFill>
                  <a:srgbClr val="1F2A33"/>
                </a:solidFill>
                <a:latin typeface="Calibri"/>
              </a:rPr>
              <a:t>• Technologies used</a:t>
            </a:r>
          </a:p>
          <a:p>
            <a:pPr lvl="1">
              <a:spcAft>
                <a:spcPts val="1000"/>
              </a:spcAft>
            </a:pPr>
            <a:r>
              <a:rPr sz="1400" b="0">
                <a:solidFill>
                  <a:srgbClr val="5B6B77"/>
                </a:solidFill>
                <a:latin typeface="Calibri"/>
              </a:rPr>
              <a:t>– React, TypeScript, Tailwind, installable PWA.</a:t>
            </a:r>
          </a:p>
          <a:p>
            <a:pPr lvl="1">
              <a:spcAft>
                <a:spcPts val="1000"/>
              </a:spcAft>
            </a:pPr>
            <a:r>
              <a:rPr sz="1400" b="0">
                <a:solidFill>
                  <a:srgbClr val="5B6B77"/>
                </a:solidFill>
                <a:latin typeface="Calibri"/>
              </a:rPr>
              <a:t>– Node.js + Express micro-services.</a:t>
            </a:r>
          </a:p>
          <a:p>
            <a:pPr lvl="1">
              <a:spcAft>
                <a:spcPts val="1000"/>
              </a:spcAft>
            </a:pPr>
            <a:r>
              <a:rPr sz="1400" b="0">
                <a:solidFill>
                  <a:srgbClr val="5B6B77"/>
                </a:solidFill>
                <a:latin typeface="Calibri"/>
              </a:rPr>
              <a:t>– Python FastAPI, scikit-learn, LangGraph, Gemini.</a:t>
            </a:r>
          </a:p>
          <a:p>
            <a:pPr lvl="1">
              <a:spcAft>
                <a:spcPts val="1000"/>
              </a:spcAft>
            </a:pPr>
            <a:r>
              <a:rPr sz="1400" b="0">
                <a:solidFill>
                  <a:srgbClr val="5B6B77"/>
                </a:solidFill>
                <a:latin typeface="Calibri"/>
              </a:rPr>
              <a:t>– MongoDB, Neo4j, Docker Compose.</a:t>
            </a:r>
          </a:p>
          <a:p>
            <a:pPr>
              <a:spcAft>
                <a:spcPts val="1000"/>
              </a:spcAft>
            </a:pPr>
            <a:r>
              <a:rPr sz="1600" b="0">
                <a:solidFill>
                  <a:srgbClr val="1F2A33"/>
                </a:solidFill>
                <a:latin typeface="Calibri"/>
              </a:rPr>
              <a:t>• Version control</a:t>
            </a:r>
          </a:p>
          <a:p>
            <a:pPr lvl="1">
              <a:spcAft>
                <a:spcPts val="1000"/>
              </a:spcAft>
            </a:pPr>
            <a:r>
              <a:rPr sz="1400" b="0">
                <a:solidFill>
                  <a:srgbClr val="5B6B77"/>
                </a:solidFill>
                <a:latin typeface="Calibri"/>
              </a:rPr>
              <a:t>– Git and GitHub, committed after each feature.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0515600" cy="822960"/>
          </a:xfrm>
          <a:prstGeom prst="rect">
            <a:avLst/>
          </a:prstGeom>
          <a:noFill/>
        </p:spPr>
        <p:txBody>
          <a:bodyPr wrap="square">
            <a:spAutoFit/>
          </a:bodyPr>
          <a:lstStyle/>
          <a:p>
            <a:r>
              <a:rPr sz="3000" b="1">
                <a:solidFill>
                  <a:srgbClr val="FFFFFF"/>
                </a:solidFill>
                <a:latin typeface="Calibri"/>
              </a:rPr>
              <a:t>Prototype — How the System Works</a:t>
            </a:r>
          </a:p>
          <a:p>
            <a:r>
              <a:rPr sz="1300">
                <a:solidFill>
                  <a:srgbClr val="B8CDD8"/>
                </a:solidFill>
                <a:latin typeface="Calibri"/>
              </a:rPr>
              <a:t>One journey, start to finish</a:t>
            </a:r>
          </a:p>
        </p:txBody>
      </p:sp>
      <p:sp>
        <p:nvSpPr>
          <p:cNvPr id="5" name="TextBox 4"/>
          <p:cNvSpPr txBox="1"/>
          <p:nvPr/>
        </p:nvSpPr>
        <p:spPr>
          <a:xfrm>
            <a:off x="11064240" y="256032"/>
            <a:ext cx="822960" cy="548640"/>
          </a:xfrm>
          <a:prstGeom prst="rect">
            <a:avLst/>
          </a:prstGeom>
          <a:noFill/>
        </p:spPr>
        <p:txBody>
          <a:bodyPr wrap="square">
            <a:spAutoFit/>
          </a:bodyPr>
          <a:lstStyle/>
          <a:p>
            <a:pPr algn="r"/>
            <a:r>
              <a:rPr sz="2600" b="1">
                <a:solidFill>
                  <a:srgbClr val="0E7C86"/>
                </a:solidFill>
                <a:latin typeface="Calibri"/>
              </a:rPr>
              <a:t>12</a:t>
            </a:r>
          </a:p>
        </p:txBody>
      </p:sp>
      <p:sp>
        <p:nvSpPr>
          <p:cNvPr id="6" name="Rectangle 5"/>
          <p:cNvSpPr/>
          <p:nvPr/>
        </p:nvSpPr>
        <p:spPr>
          <a:xfrm>
            <a:off x="658368" y="1554480"/>
            <a:ext cx="1429076" cy="9144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1. Owner adds pet</a:t>
            </a:r>
          </a:p>
        </p:txBody>
      </p:sp>
      <p:sp>
        <p:nvSpPr>
          <p:cNvPr id="7" name="Rectangle 6"/>
          <p:cNvSpPr/>
          <p:nvPr/>
        </p:nvSpPr>
        <p:spPr>
          <a:xfrm>
            <a:off x="2233748" y="1554480"/>
            <a:ext cx="1429076" cy="914400"/>
          </a:xfrm>
          <a:prstGeom prst="rect">
            <a:avLst/>
          </a:prstGeom>
          <a:solidFill>
            <a:srgbClr val="142A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2. Answers symptom form</a:t>
            </a:r>
          </a:p>
        </p:txBody>
      </p:sp>
      <p:sp>
        <p:nvSpPr>
          <p:cNvPr id="8" name="Rectangle 7"/>
          <p:cNvSpPr/>
          <p:nvPr/>
        </p:nvSpPr>
        <p:spPr>
          <a:xfrm>
            <a:off x="3809128" y="1554480"/>
            <a:ext cx="1429076" cy="9144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3. ML predicts risk</a:t>
            </a:r>
          </a:p>
        </p:txBody>
      </p:sp>
      <p:sp>
        <p:nvSpPr>
          <p:cNvPr id="9" name="Rectangle 8"/>
          <p:cNvSpPr/>
          <p:nvPr/>
        </p:nvSpPr>
        <p:spPr>
          <a:xfrm>
            <a:off x="5384508" y="1554480"/>
            <a:ext cx="1429076" cy="914400"/>
          </a:xfrm>
          <a:prstGeom prst="rect">
            <a:avLst/>
          </a:prstGeom>
          <a:solidFill>
            <a:srgbClr val="142A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4. Agents explain + advise</a:t>
            </a:r>
          </a:p>
        </p:txBody>
      </p:sp>
      <p:sp>
        <p:nvSpPr>
          <p:cNvPr id="10" name="Rectangle 9"/>
          <p:cNvSpPr/>
          <p:nvPr/>
        </p:nvSpPr>
        <p:spPr>
          <a:xfrm>
            <a:off x="6959888" y="1554480"/>
            <a:ext cx="1429076" cy="9144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5. Clinic suggested</a:t>
            </a:r>
          </a:p>
        </p:txBody>
      </p:sp>
      <p:sp>
        <p:nvSpPr>
          <p:cNvPr id="11" name="Rectangle 10"/>
          <p:cNvSpPr/>
          <p:nvPr/>
        </p:nvSpPr>
        <p:spPr>
          <a:xfrm>
            <a:off x="8535268" y="1554480"/>
            <a:ext cx="1429076" cy="914400"/>
          </a:xfrm>
          <a:prstGeom prst="rect">
            <a:avLst/>
          </a:prstGeom>
          <a:solidFill>
            <a:srgbClr val="142A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6. Book appointment</a:t>
            </a:r>
          </a:p>
        </p:txBody>
      </p:sp>
      <p:sp>
        <p:nvSpPr>
          <p:cNvPr id="12" name="Rectangle 11"/>
          <p:cNvSpPr/>
          <p:nvPr/>
        </p:nvSpPr>
        <p:spPr>
          <a:xfrm>
            <a:off x="10110648" y="1554480"/>
            <a:ext cx="1429076" cy="9144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7. Reminders continue</a:t>
            </a:r>
          </a:p>
        </p:txBody>
      </p:sp>
      <p:sp>
        <p:nvSpPr>
          <p:cNvPr id="13" name="Rectangle 12"/>
          <p:cNvSpPr/>
          <p:nvPr/>
        </p:nvSpPr>
        <p:spPr>
          <a:xfrm>
            <a:off x="822960" y="2788920"/>
            <a:ext cx="10515600" cy="3291840"/>
          </a:xfrm>
          <a:prstGeom prst="rect">
            <a:avLst/>
          </a:prstGeom>
          <a:solidFill>
            <a:srgbClr val="F2F5F7"/>
          </a:solidFill>
          <a:ln w="15875">
            <a:solidFill>
              <a:srgbClr val="C3CED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5B6B77"/>
                </a:solidFill>
                <a:latin typeface="Calibri"/>
              </a:rPr>
              <a:t>PASTE SCREENSHOTS HERE
Suggested: (1) symptom form   (2) risk result with explanation   (3) clinic map and booking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0515600" cy="822960"/>
          </a:xfrm>
          <a:prstGeom prst="rect">
            <a:avLst/>
          </a:prstGeom>
          <a:noFill/>
        </p:spPr>
        <p:txBody>
          <a:bodyPr wrap="square">
            <a:spAutoFit/>
          </a:bodyPr>
          <a:lstStyle/>
          <a:p>
            <a:r>
              <a:rPr sz="3000" b="1">
                <a:solidFill>
                  <a:srgbClr val="FFFFFF"/>
                </a:solidFill>
                <a:latin typeface="Calibri"/>
              </a:rPr>
              <a:t>Explainability</a:t>
            </a:r>
          </a:p>
          <a:p>
            <a:r>
              <a:rPr sz="1300">
                <a:solidFill>
                  <a:srgbClr val="B8CDD8"/>
                </a:solidFill>
                <a:latin typeface="Calibri"/>
              </a:rPr>
              <a:t>The owner can see why</a:t>
            </a:r>
          </a:p>
        </p:txBody>
      </p:sp>
      <p:sp>
        <p:nvSpPr>
          <p:cNvPr id="5" name="TextBox 4"/>
          <p:cNvSpPr txBox="1"/>
          <p:nvPr/>
        </p:nvSpPr>
        <p:spPr>
          <a:xfrm>
            <a:off x="11064240" y="256032"/>
            <a:ext cx="822960" cy="548640"/>
          </a:xfrm>
          <a:prstGeom prst="rect">
            <a:avLst/>
          </a:prstGeom>
          <a:noFill/>
        </p:spPr>
        <p:txBody>
          <a:bodyPr wrap="square">
            <a:spAutoFit/>
          </a:bodyPr>
          <a:lstStyle/>
          <a:p>
            <a:pPr algn="r"/>
            <a:r>
              <a:rPr sz="2600" b="1">
                <a:solidFill>
                  <a:srgbClr val="0E7C86"/>
                </a:solidFill>
                <a:latin typeface="Calibri"/>
              </a:rPr>
              <a:t>13</a:t>
            </a:r>
          </a:p>
        </p:txBody>
      </p:sp>
      <p:sp>
        <p:nvSpPr>
          <p:cNvPr id="6" name="TextBox 5"/>
          <p:cNvSpPr txBox="1"/>
          <p:nvPr/>
        </p:nvSpPr>
        <p:spPr>
          <a:xfrm>
            <a:off x="658368" y="1463040"/>
            <a:ext cx="5394960" cy="4937760"/>
          </a:xfrm>
          <a:prstGeom prst="rect">
            <a:avLst/>
          </a:prstGeom>
          <a:noFill/>
        </p:spPr>
        <p:txBody>
          <a:bodyPr wrap="square">
            <a:spAutoFit/>
          </a:bodyPr>
          <a:lstStyle/>
          <a:p>
            <a:pPr>
              <a:spcAft>
                <a:spcPts val="1000"/>
              </a:spcAft>
            </a:pPr>
            <a:r>
              <a:rPr sz="1700" b="0">
                <a:solidFill>
                  <a:srgbClr val="1F2A33"/>
                </a:solidFill>
                <a:latin typeface="Calibri"/>
              </a:rPr>
              <a:t>• What the owner sees</a:t>
            </a:r>
          </a:p>
          <a:p>
            <a:pPr lvl="1">
              <a:spcAft>
                <a:spcPts val="1000"/>
              </a:spcAft>
            </a:pPr>
            <a:r>
              <a:rPr sz="1500" b="0">
                <a:solidFill>
                  <a:srgbClr val="5B6B77"/>
                </a:solidFill>
                <a:latin typeface="Calibri"/>
              </a:rPr>
              <a:t>– The risk level and a confidence score.</a:t>
            </a:r>
          </a:p>
          <a:p>
            <a:pPr lvl="1">
              <a:spcAft>
                <a:spcPts val="1000"/>
              </a:spcAft>
            </a:pPr>
            <a:r>
              <a:rPr sz="1500" b="0">
                <a:solidFill>
                  <a:srgbClr val="5B6B77"/>
                </a:solidFill>
                <a:latin typeface="Calibri"/>
              </a:rPr>
              <a:t>– Top 3 possible conditions with probabilities.</a:t>
            </a:r>
          </a:p>
          <a:p>
            <a:pPr lvl="1">
              <a:spcAft>
                <a:spcPts val="1000"/>
              </a:spcAft>
            </a:pPr>
            <a:r>
              <a:rPr sz="1500" b="0">
                <a:solidFill>
                  <a:srgbClr val="5B6B77"/>
                </a:solidFill>
                <a:latin typeface="Calibri"/>
              </a:rPr>
              <a:t>– Which answers pushed the result up or down.</a:t>
            </a:r>
          </a:p>
          <a:p>
            <a:pPr lvl="1">
              <a:spcAft>
                <a:spcPts val="1000"/>
              </a:spcAft>
            </a:pPr>
            <a:r>
              <a:rPr sz="1500" b="0">
                <a:solidFill>
                  <a:srgbClr val="5B6B77"/>
                </a:solidFill>
                <a:latin typeface="Calibri"/>
              </a:rPr>
              <a:t>– Known symptom-to-disease links from the ontology.</a:t>
            </a:r>
          </a:p>
          <a:p>
            <a:pPr>
              <a:spcAft>
                <a:spcPts val="1000"/>
              </a:spcAft>
            </a:pPr>
            <a:r>
              <a:rPr sz="1700" b="0">
                <a:solidFill>
                  <a:srgbClr val="1F2A33"/>
                </a:solidFill>
                <a:latin typeface="Calibri"/>
              </a:rPr>
              <a:t>• Why this matters</a:t>
            </a:r>
          </a:p>
          <a:p>
            <a:pPr lvl="1">
              <a:spcAft>
                <a:spcPts val="1000"/>
              </a:spcAft>
            </a:pPr>
            <a:r>
              <a:rPr sz="1500" b="0">
                <a:solidFill>
                  <a:srgbClr val="5B6B77"/>
                </a:solidFill>
                <a:latin typeface="Calibri"/>
              </a:rPr>
              <a:t>– An owner will not act on a number they do not trust.</a:t>
            </a:r>
          </a:p>
          <a:p>
            <a:pPr lvl="1">
              <a:spcAft>
                <a:spcPts val="1000"/>
              </a:spcAft>
            </a:pPr>
            <a:r>
              <a:rPr sz="1500" b="0">
                <a:solidFill>
                  <a:srgbClr val="5B6B77"/>
                </a:solidFill>
                <a:latin typeface="Calibri"/>
              </a:rPr>
              <a:t>– A vet can check the reasoning, not just the answer.</a:t>
            </a:r>
          </a:p>
        </p:txBody>
      </p:sp>
      <p:sp>
        <p:nvSpPr>
          <p:cNvPr id="7" name="Rectangle 6"/>
          <p:cNvSpPr/>
          <p:nvPr/>
        </p:nvSpPr>
        <p:spPr>
          <a:xfrm>
            <a:off x="6400800" y="1737360"/>
            <a:ext cx="5212080" cy="3931920"/>
          </a:xfrm>
          <a:prstGeom prst="rect">
            <a:avLst/>
          </a:prstGeom>
          <a:solidFill>
            <a:srgbClr val="F2F5F7"/>
          </a:solidFill>
          <a:ln w="15875">
            <a:solidFill>
              <a:srgbClr val="C3CED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5B6B77"/>
                </a:solidFill>
                <a:latin typeface="Calibri"/>
              </a:rPr>
              <a:t>PASTE SCREENSHOT HERE
The 'What led to this result' panel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0515600" cy="822960"/>
          </a:xfrm>
          <a:prstGeom prst="rect">
            <a:avLst/>
          </a:prstGeom>
          <a:noFill/>
        </p:spPr>
        <p:txBody>
          <a:bodyPr wrap="square">
            <a:spAutoFit/>
          </a:bodyPr>
          <a:lstStyle/>
          <a:p>
            <a:r>
              <a:rPr sz="3000" b="1">
                <a:solidFill>
                  <a:srgbClr val="FFFFFF"/>
                </a:solidFill>
                <a:latin typeface="Calibri"/>
              </a:rPr>
              <a:t>Current Results — Model Performance</a:t>
            </a:r>
          </a:p>
          <a:p>
            <a:r>
              <a:rPr sz="1300">
                <a:solidFill>
                  <a:srgbClr val="B8CDD8"/>
                </a:solidFill>
                <a:latin typeface="Calibri"/>
              </a:rPr>
              <a:t>Measured, not estimated</a:t>
            </a:r>
          </a:p>
        </p:txBody>
      </p:sp>
      <p:sp>
        <p:nvSpPr>
          <p:cNvPr id="5" name="TextBox 4"/>
          <p:cNvSpPr txBox="1"/>
          <p:nvPr/>
        </p:nvSpPr>
        <p:spPr>
          <a:xfrm>
            <a:off x="11064240" y="256032"/>
            <a:ext cx="822960" cy="548640"/>
          </a:xfrm>
          <a:prstGeom prst="rect">
            <a:avLst/>
          </a:prstGeom>
          <a:noFill/>
        </p:spPr>
        <p:txBody>
          <a:bodyPr wrap="square">
            <a:spAutoFit/>
          </a:bodyPr>
          <a:lstStyle/>
          <a:p>
            <a:pPr algn="r"/>
            <a:r>
              <a:rPr sz="2600" b="1">
                <a:solidFill>
                  <a:srgbClr val="0E7C86"/>
                </a:solidFill>
                <a:latin typeface="Calibri"/>
              </a:rPr>
              <a:t>14</a:t>
            </a:r>
          </a:p>
        </p:txBody>
      </p:sp>
      <p:sp>
        <p:nvSpPr>
          <p:cNvPr id="6" name="Rectangle 5"/>
          <p:cNvSpPr/>
          <p:nvPr/>
        </p:nvSpPr>
        <p:spPr>
          <a:xfrm>
            <a:off x="658368" y="1600200"/>
            <a:ext cx="1956816" cy="1371600"/>
          </a:xfrm>
          <a:prstGeom prst="rect">
            <a:avLst/>
          </a:prstGeom>
          <a:solidFill>
            <a:srgbClr val="F2F5F7"/>
          </a:solidFill>
          <a:ln>
            <a:solidFill>
              <a:srgbClr val="D8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0E7C86"/>
                </a:solidFill>
                <a:latin typeface="Calibri"/>
              </a:rPr>
              <a:t>90.3%</a:t>
            </a:r>
          </a:p>
          <a:p>
            <a:pPr algn="ctr"/>
            <a:r>
              <a:rPr sz="1200">
                <a:solidFill>
                  <a:srgbClr val="5B6B77"/>
                </a:solidFill>
                <a:latin typeface="Calibri"/>
              </a:rPr>
              <a:t>Model A accuracy</a:t>
            </a:r>
          </a:p>
        </p:txBody>
      </p:sp>
      <p:sp>
        <p:nvSpPr>
          <p:cNvPr id="7" name="Rectangle 6"/>
          <p:cNvSpPr/>
          <p:nvPr/>
        </p:nvSpPr>
        <p:spPr>
          <a:xfrm>
            <a:off x="2889504" y="1600200"/>
            <a:ext cx="1956816" cy="1371600"/>
          </a:xfrm>
          <a:prstGeom prst="rect">
            <a:avLst/>
          </a:prstGeom>
          <a:solidFill>
            <a:srgbClr val="F2F5F7"/>
          </a:solidFill>
          <a:ln>
            <a:solidFill>
              <a:srgbClr val="D8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0E7C86"/>
                </a:solidFill>
                <a:latin typeface="Calibri"/>
              </a:rPr>
              <a:t>0.907</a:t>
            </a:r>
          </a:p>
          <a:p>
            <a:pPr algn="ctr"/>
            <a:r>
              <a:rPr sz="1200">
                <a:solidFill>
                  <a:srgbClr val="5B6B77"/>
                </a:solidFill>
                <a:latin typeface="Calibri"/>
              </a:rPr>
              <a:t>Model A macro F1</a:t>
            </a:r>
          </a:p>
        </p:txBody>
      </p:sp>
      <p:sp>
        <p:nvSpPr>
          <p:cNvPr id="8" name="Rectangle 7"/>
          <p:cNvSpPr/>
          <p:nvPr/>
        </p:nvSpPr>
        <p:spPr>
          <a:xfrm>
            <a:off x="5120640" y="1600200"/>
            <a:ext cx="1956816" cy="1371600"/>
          </a:xfrm>
          <a:prstGeom prst="rect">
            <a:avLst/>
          </a:prstGeom>
          <a:solidFill>
            <a:srgbClr val="F2F5F7"/>
          </a:solidFill>
          <a:ln>
            <a:solidFill>
              <a:srgbClr val="D8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0E7C86"/>
                </a:solidFill>
                <a:latin typeface="Calibri"/>
              </a:rPr>
              <a:t>11</a:t>
            </a:r>
          </a:p>
          <a:p>
            <a:pPr algn="ctr"/>
            <a:r>
              <a:rPr sz="1200">
                <a:solidFill>
                  <a:srgbClr val="5B6B77"/>
                </a:solidFill>
                <a:latin typeface="Calibri"/>
              </a:rPr>
              <a:t>conditions predicted</a:t>
            </a:r>
          </a:p>
        </p:txBody>
      </p:sp>
      <p:sp>
        <p:nvSpPr>
          <p:cNvPr id="9" name="Rectangle 8"/>
          <p:cNvSpPr/>
          <p:nvPr/>
        </p:nvSpPr>
        <p:spPr>
          <a:xfrm>
            <a:off x="7351776" y="1600200"/>
            <a:ext cx="1956816" cy="1371600"/>
          </a:xfrm>
          <a:prstGeom prst="rect">
            <a:avLst/>
          </a:prstGeom>
          <a:solidFill>
            <a:srgbClr val="F2F5F7"/>
          </a:solidFill>
          <a:ln>
            <a:solidFill>
              <a:srgbClr val="D8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0E7C86"/>
                </a:solidFill>
                <a:latin typeface="Calibri"/>
              </a:rPr>
              <a:t>4,160/1,040</a:t>
            </a:r>
          </a:p>
          <a:p>
            <a:pPr algn="ctr"/>
            <a:r>
              <a:rPr sz="1200">
                <a:solidFill>
                  <a:srgbClr val="5B6B77"/>
                </a:solidFill>
                <a:latin typeface="Calibri"/>
              </a:rPr>
              <a:t>train / test rows</a:t>
            </a:r>
          </a:p>
        </p:txBody>
      </p:sp>
      <p:sp>
        <p:nvSpPr>
          <p:cNvPr id="10" name="Rectangle 9"/>
          <p:cNvSpPr/>
          <p:nvPr/>
        </p:nvSpPr>
        <p:spPr>
          <a:xfrm>
            <a:off x="9582912" y="1600200"/>
            <a:ext cx="1956816" cy="1371600"/>
          </a:xfrm>
          <a:prstGeom prst="rect">
            <a:avLst/>
          </a:prstGeom>
          <a:solidFill>
            <a:srgbClr val="F2F5F7"/>
          </a:solidFill>
          <a:ln>
            <a:solidFill>
              <a:srgbClr val="D8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0E7C86"/>
                </a:solidFill>
                <a:latin typeface="Calibri"/>
              </a:rPr>
              <a:t>0.964</a:t>
            </a:r>
          </a:p>
          <a:p>
            <a:pPr algn="ctr"/>
            <a:r>
              <a:rPr sz="1200">
                <a:solidFill>
                  <a:srgbClr val="5B6B77"/>
                </a:solidFill>
                <a:latin typeface="Calibri"/>
              </a:rPr>
              <a:t>Model B ROC-AUC</a:t>
            </a:r>
          </a:p>
        </p:txBody>
      </p:sp>
      <p:graphicFrame>
        <p:nvGraphicFramePr>
          <p:cNvPr id="11" name="Table 10"/>
          <p:cNvGraphicFramePr>
            <a:graphicFrameLocks noGrp="1"/>
          </p:cNvGraphicFramePr>
          <p:nvPr/>
        </p:nvGraphicFramePr>
        <p:xfrm>
          <a:off x="658368" y="3200400"/>
          <a:ext cx="10881360" cy="2926080"/>
        </p:xfrm>
        <a:graphic>
          <a:graphicData uri="http://schemas.openxmlformats.org/drawingml/2006/table">
            <a:tbl>
              <a:tblPr firstRow="1" bandRow="1">
                <a:tableStyleId>{5C22544A-7EE6-4342-B048-85BDC9FD1C3A}</a:tableStyleId>
              </a:tblPr>
              <a:tblGrid>
                <a:gridCol w="5120640"/>
                <a:gridCol w="1463040"/>
                <a:gridCol w="4297680"/>
              </a:tblGrid>
              <a:tr h="365760">
                <a:tc>
                  <a:txBody>
                    <a:bodyPr/>
                    <a:lstStyle/>
                    <a:p>
                      <a:r>
                        <a:rPr sz="1300" b="1">
                          <a:solidFill>
                            <a:srgbClr val="FFFFFF"/>
                          </a:solidFill>
                          <a:latin typeface="Calibri"/>
                        </a:rPr>
                        <a:t>Condition</a:t>
                      </a:r>
                    </a:p>
                  </a:txBody>
                  <a:tcPr>
                    <a:solidFill>
                      <a:srgbClr val="142A3F"/>
                    </a:solidFill>
                  </a:tcPr>
                </a:tc>
                <a:tc>
                  <a:txBody>
                    <a:bodyPr/>
                    <a:lstStyle/>
                    <a:p>
                      <a:r>
                        <a:rPr sz="1300" b="1">
                          <a:solidFill>
                            <a:srgbClr val="FFFFFF"/>
                          </a:solidFill>
                          <a:latin typeface="Calibri"/>
                        </a:rPr>
                        <a:t>F1</a:t>
                      </a:r>
                    </a:p>
                  </a:txBody>
                  <a:tcPr>
                    <a:solidFill>
                      <a:srgbClr val="142A3F"/>
                    </a:solidFill>
                  </a:tcPr>
                </a:tc>
                <a:tc>
                  <a:txBody>
                    <a:bodyPr/>
                    <a:lstStyle/>
                    <a:p>
                      <a:r>
                        <a:rPr sz="1300" b="1">
                          <a:solidFill>
                            <a:srgbClr val="FFFFFF"/>
                          </a:solidFill>
                          <a:latin typeface="Calibri"/>
                        </a:rPr>
                        <a:t>Data source</a:t>
                      </a:r>
                    </a:p>
                  </a:txBody>
                  <a:tcPr>
                    <a:solidFill>
                      <a:srgbClr val="142A3F"/>
                    </a:solidFill>
                  </a:tcPr>
                </a:tc>
              </a:tr>
              <a:tr h="365760">
                <a:tc>
                  <a:txBody>
                    <a:bodyPr/>
                    <a:lstStyle/>
                    <a:p>
                      <a:r>
                        <a:rPr sz="1300" b="0">
                          <a:solidFill>
                            <a:srgbClr val="1F2A33"/>
                          </a:solidFill>
                          <a:latin typeface="Calibri"/>
                        </a:rPr>
                        <a:t>Skin Irritations</a:t>
                      </a:r>
                    </a:p>
                  </a:txBody>
                  <a:tcPr>
                    <a:solidFill>
                      <a:srgbClr val="FFFFFF"/>
                    </a:solidFill>
                  </a:tcPr>
                </a:tc>
                <a:tc>
                  <a:txBody>
                    <a:bodyPr/>
                    <a:lstStyle/>
                    <a:p>
                      <a:r>
                        <a:rPr sz="1300" b="0">
                          <a:solidFill>
                            <a:srgbClr val="1F2A33"/>
                          </a:solidFill>
                          <a:latin typeface="Calibri"/>
                        </a:rPr>
                        <a:t>0.77</a:t>
                      </a:r>
                    </a:p>
                  </a:txBody>
                  <a:tcPr>
                    <a:solidFill>
                      <a:srgbClr val="FFFFFF"/>
                    </a:solidFill>
                  </a:tcPr>
                </a:tc>
                <a:tc>
                  <a:txBody>
                    <a:bodyPr/>
                    <a:lstStyle/>
                    <a:p>
                      <a:r>
                        <a:rPr sz="1300" b="0">
                          <a:solidFill>
                            <a:srgbClr val="1F2A33"/>
                          </a:solidFill>
                          <a:latin typeface="Calibri"/>
                        </a:rPr>
                        <a:t>Real dataset</a:t>
                      </a:r>
                    </a:p>
                  </a:txBody>
                  <a:tcPr>
                    <a:solidFill>
                      <a:srgbClr val="FFFFFF"/>
                    </a:solidFill>
                  </a:tcPr>
                </a:tc>
              </a:tr>
              <a:tr h="365760">
                <a:tc>
                  <a:txBody>
                    <a:bodyPr/>
                    <a:lstStyle/>
                    <a:p>
                      <a:r>
                        <a:rPr sz="1300" b="0">
                          <a:solidFill>
                            <a:srgbClr val="1F2A33"/>
                          </a:solidFill>
                          <a:latin typeface="Calibri"/>
                        </a:rPr>
                        <a:t>Parasites</a:t>
                      </a:r>
                    </a:p>
                  </a:txBody>
                  <a:tcPr>
                    <a:solidFill>
                      <a:srgbClr val="F2F5F7"/>
                    </a:solidFill>
                  </a:tcPr>
                </a:tc>
                <a:tc>
                  <a:txBody>
                    <a:bodyPr/>
                    <a:lstStyle/>
                    <a:p>
                      <a:r>
                        <a:rPr sz="1300" b="0">
                          <a:solidFill>
                            <a:srgbClr val="1F2A33"/>
                          </a:solidFill>
                          <a:latin typeface="Calibri"/>
                        </a:rPr>
                        <a:t>0.80</a:t>
                      </a:r>
                    </a:p>
                  </a:txBody>
                  <a:tcPr>
                    <a:solidFill>
                      <a:srgbClr val="F2F5F7"/>
                    </a:solidFill>
                  </a:tcPr>
                </a:tc>
                <a:tc>
                  <a:txBody>
                    <a:bodyPr/>
                    <a:lstStyle/>
                    <a:p>
                      <a:r>
                        <a:rPr sz="1300" b="0">
                          <a:solidFill>
                            <a:srgbClr val="1F2A33"/>
                          </a:solidFill>
                          <a:latin typeface="Calibri"/>
                        </a:rPr>
                        <a:t>Real dataset</a:t>
                      </a:r>
                    </a:p>
                  </a:txBody>
                  <a:tcPr>
                    <a:solidFill>
                      <a:srgbClr val="F2F5F7"/>
                    </a:solidFill>
                  </a:tcPr>
                </a:tc>
              </a:tr>
              <a:tr h="365760">
                <a:tc>
                  <a:txBody>
                    <a:bodyPr/>
                    <a:lstStyle/>
                    <a:p>
                      <a:r>
                        <a:rPr sz="1300" b="0">
                          <a:solidFill>
                            <a:srgbClr val="1F2A33"/>
                          </a:solidFill>
                          <a:latin typeface="Calibri"/>
                        </a:rPr>
                        <a:t>Ear Infections</a:t>
                      </a:r>
                    </a:p>
                  </a:txBody>
                  <a:tcPr>
                    <a:solidFill>
                      <a:srgbClr val="FFFFFF"/>
                    </a:solidFill>
                  </a:tcPr>
                </a:tc>
                <a:tc>
                  <a:txBody>
                    <a:bodyPr/>
                    <a:lstStyle/>
                    <a:p>
                      <a:r>
                        <a:rPr sz="1300" b="0">
                          <a:solidFill>
                            <a:srgbClr val="1F2A33"/>
                          </a:solidFill>
                          <a:latin typeface="Calibri"/>
                        </a:rPr>
                        <a:t>0.80</a:t>
                      </a:r>
                    </a:p>
                  </a:txBody>
                  <a:tcPr>
                    <a:solidFill>
                      <a:srgbClr val="FFFFFF"/>
                    </a:solidFill>
                  </a:tcPr>
                </a:tc>
                <a:tc>
                  <a:txBody>
                    <a:bodyPr/>
                    <a:lstStyle/>
                    <a:p>
                      <a:r>
                        <a:rPr sz="1300" b="0">
                          <a:solidFill>
                            <a:srgbClr val="1F2A33"/>
                          </a:solidFill>
                          <a:latin typeface="Calibri"/>
                        </a:rPr>
                        <a:t>Real dataset</a:t>
                      </a:r>
                    </a:p>
                  </a:txBody>
                  <a:tcPr>
                    <a:solidFill>
                      <a:srgbClr val="FFFFFF"/>
                    </a:solidFill>
                  </a:tcPr>
                </a:tc>
              </a:tr>
              <a:tr h="365760">
                <a:tc>
                  <a:txBody>
                    <a:bodyPr/>
                    <a:lstStyle/>
                    <a:p>
                      <a:r>
                        <a:rPr sz="1300" b="0">
                          <a:solidFill>
                            <a:srgbClr val="1F2A33"/>
                          </a:solidFill>
                          <a:latin typeface="Calibri"/>
                        </a:rPr>
                        <a:t>Mobility Problems</a:t>
                      </a:r>
                    </a:p>
                  </a:txBody>
                  <a:tcPr>
                    <a:solidFill>
                      <a:srgbClr val="F2F5F7"/>
                    </a:solidFill>
                  </a:tcPr>
                </a:tc>
                <a:tc>
                  <a:txBody>
                    <a:bodyPr/>
                    <a:lstStyle/>
                    <a:p>
                      <a:r>
                        <a:rPr sz="1300" b="0">
                          <a:solidFill>
                            <a:srgbClr val="1F2A33"/>
                          </a:solidFill>
                          <a:latin typeface="Calibri"/>
                        </a:rPr>
                        <a:t>0.81</a:t>
                      </a:r>
                    </a:p>
                  </a:txBody>
                  <a:tcPr>
                    <a:solidFill>
                      <a:srgbClr val="F2F5F7"/>
                    </a:solidFill>
                  </a:tcPr>
                </a:tc>
                <a:tc>
                  <a:txBody>
                    <a:bodyPr/>
                    <a:lstStyle/>
                    <a:p>
                      <a:r>
                        <a:rPr sz="1300" b="0">
                          <a:solidFill>
                            <a:srgbClr val="1F2A33"/>
                          </a:solidFill>
                          <a:latin typeface="Calibri"/>
                        </a:rPr>
                        <a:t>Real dataset</a:t>
                      </a:r>
                    </a:p>
                  </a:txBody>
                  <a:tcPr>
                    <a:solidFill>
                      <a:srgbClr val="F2F5F7"/>
                    </a:solidFill>
                  </a:tcPr>
                </a:tc>
              </a:tr>
              <a:tr h="365760">
                <a:tc>
                  <a:txBody>
                    <a:bodyPr/>
                    <a:lstStyle/>
                    <a:p>
                      <a:r>
                        <a:rPr sz="1300" b="0">
                          <a:solidFill>
                            <a:srgbClr val="1F2A33"/>
                          </a:solidFill>
                          <a:latin typeface="Calibri"/>
                        </a:rPr>
                        <a:t>Digestive Issues</a:t>
                      </a:r>
                    </a:p>
                  </a:txBody>
                  <a:tcPr>
                    <a:solidFill>
                      <a:srgbClr val="FFFFFF"/>
                    </a:solidFill>
                  </a:tcPr>
                </a:tc>
                <a:tc>
                  <a:txBody>
                    <a:bodyPr/>
                    <a:lstStyle/>
                    <a:p>
                      <a:r>
                        <a:rPr sz="1300" b="0">
                          <a:solidFill>
                            <a:srgbClr val="1F2A33"/>
                          </a:solidFill>
                          <a:latin typeface="Calibri"/>
                        </a:rPr>
                        <a:t>0.87</a:t>
                      </a:r>
                    </a:p>
                  </a:txBody>
                  <a:tcPr>
                    <a:solidFill>
                      <a:srgbClr val="FFFFFF"/>
                    </a:solidFill>
                  </a:tcPr>
                </a:tc>
                <a:tc>
                  <a:txBody>
                    <a:bodyPr/>
                    <a:lstStyle/>
                    <a:p>
                      <a:r>
                        <a:rPr sz="1300" b="0">
                          <a:solidFill>
                            <a:srgbClr val="1F2A33"/>
                          </a:solidFill>
                          <a:latin typeface="Calibri"/>
                        </a:rPr>
                        <a:t>Real dataset</a:t>
                      </a:r>
                    </a:p>
                  </a:txBody>
                  <a:tcPr>
                    <a:solidFill>
                      <a:srgbClr val="FFFFFF"/>
                    </a:solidFill>
                  </a:tcPr>
                </a:tc>
              </a:tr>
              <a:tr h="365760">
                <a:tc>
                  <a:txBody>
                    <a:bodyPr/>
                    <a:lstStyle/>
                    <a:p>
                      <a:r>
                        <a:rPr sz="1300" b="0">
                          <a:solidFill>
                            <a:srgbClr val="1F2A33"/>
                          </a:solidFill>
                          <a:latin typeface="Calibri"/>
                        </a:rPr>
                        <a:t>Diabetes, Heart, Liver, Pancreatitis</a:t>
                      </a:r>
                    </a:p>
                  </a:txBody>
                  <a:tcPr>
                    <a:solidFill>
                      <a:srgbClr val="F2F5F7"/>
                    </a:solidFill>
                  </a:tcPr>
                </a:tc>
                <a:tc>
                  <a:txBody>
                    <a:bodyPr/>
                    <a:lstStyle/>
                    <a:p>
                      <a:r>
                        <a:rPr sz="1300" b="0">
                          <a:solidFill>
                            <a:srgbClr val="1F2A33"/>
                          </a:solidFill>
                          <a:latin typeface="Calibri"/>
                        </a:rPr>
                        <a:t>1.00</a:t>
                      </a:r>
                    </a:p>
                  </a:txBody>
                  <a:tcPr>
                    <a:solidFill>
                      <a:srgbClr val="F2F5F7"/>
                    </a:solidFill>
                  </a:tcPr>
                </a:tc>
                <a:tc>
                  <a:txBody>
                    <a:bodyPr/>
                    <a:lstStyle/>
                    <a:p>
                      <a:r>
                        <a:rPr sz="1300" b="0">
                          <a:solidFill>
                            <a:srgbClr val="1F2A33"/>
                          </a:solidFill>
                          <a:latin typeface="Calibri"/>
                        </a:rPr>
                        <a:t>Knowledge-generated</a:t>
                      </a:r>
                    </a:p>
                  </a:txBody>
                  <a:tcPr>
                    <a:solidFill>
                      <a:srgbClr val="F2F5F7"/>
                    </a:solidFill>
                  </a:tcPr>
                </a:tc>
              </a:tr>
              <a:tr h="365760">
                <a:tc>
                  <a:txBody>
                    <a:bodyPr/>
                    <a:lstStyle/>
                    <a:p>
                      <a:r>
                        <a:rPr sz="1300" b="0">
                          <a:solidFill>
                            <a:srgbClr val="1F2A33"/>
                          </a:solidFill>
                          <a:latin typeface="Calibri"/>
                        </a:rPr>
                        <a:t>Cancer, Chronic Kidney Disease</a:t>
                      </a:r>
                    </a:p>
                  </a:txBody>
                  <a:tcPr>
                    <a:solidFill>
                      <a:srgbClr val="FFFFFF"/>
                    </a:solidFill>
                  </a:tcPr>
                </a:tc>
                <a:tc>
                  <a:txBody>
                    <a:bodyPr/>
                    <a:lstStyle/>
                    <a:p>
                      <a:r>
                        <a:rPr sz="1300" b="0">
                          <a:solidFill>
                            <a:srgbClr val="1F2A33"/>
                          </a:solidFill>
                          <a:latin typeface="Calibri"/>
                        </a:rPr>
                        <a:t>0.97</a:t>
                      </a:r>
                    </a:p>
                  </a:txBody>
                  <a:tcPr>
                    <a:solidFill>
                      <a:srgbClr val="FFFFFF"/>
                    </a:solidFill>
                  </a:tcPr>
                </a:tc>
                <a:tc>
                  <a:txBody>
                    <a:bodyPr/>
                    <a:lstStyle/>
                    <a:p>
                      <a:r>
                        <a:rPr sz="1300" b="0">
                          <a:solidFill>
                            <a:srgbClr val="1F2A33"/>
                          </a:solidFill>
                          <a:latin typeface="Calibri"/>
                        </a:rPr>
                        <a:t>Knowledge-generated</a:t>
                      </a:r>
                    </a:p>
                  </a:txBody>
                  <a:tcP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0515600" cy="822960"/>
          </a:xfrm>
          <a:prstGeom prst="rect">
            <a:avLst/>
          </a:prstGeom>
          <a:noFill/>
        </p:spPr>
        <p:txBody>
          <a:bodyPr wrap="square">
            <a:spAutoFit/>
          </a:bodyPr>
          <a:lstStyle/>
          <a:p>
            <a:r>
              <a:rPr sz="3000" b="1">
                <a:solidFill>
                  <a:srgbClr val="FFFFFF"/>
                </a:solidFill>
                <a:latin typeface="Calibri"/>
              </a:rPr>
              <a:t>Current Results — Testing</a:t>
            </a:r>
          </a:p>
          <a:p>
            <a:r>
              <a:rPr sz="1300">
                <a:solidFill>
                  <a:srgbClr val="B8CDD8"/>
                </a:solidFill>
                <a:latin typeface="Calibri"/>
              </a:rPr>
              <a:t>Manual and automated</a:t>
            </a:r>
          </a:p>
        </p:txBody>
      </p:sp>
      <p:sp>
        <p:nvSpPr>
          <p:cNvPr id="5" name="TextBox 4"/>
          <p:cNvSpPr txBox="1"/>
          <p:nvPr/>
        </p:nvSpPr>
        <p:spPr>
          <a:xfrm>
            <a:off x="11064240" y="256032"/>
            <a:ext cx="822960" cy="548640"/>
          </a:xfrm>
          <a:prstGeom prst="rect">
            <a:avLst/>
          </a:prstGeom>
          <a:noFill/>
        </p:spPr>
        <p:txBody>
          <a:bodyPr wrap="square">
            <a:spAutoFit/>
          </a:bodyPr>
          <a:lstStyle/>
          <a:p>
            <a:pPr algn="r"/>
            <a:r>
              <a:rPr sz="2600" b="1">
                <a:solidFill>
                  <a:srgbClr val="0E7C86"/>
                </a:solidFill>
                <a:latin typeface="Calibri"/>
              </a:rPr>
              <a:t>15</a:t>
            </a:r>
          </a:p>
        </p:txBody>
      </p:sp>
      <p:sp>
        <p:nvSpPr>
          <p:cNvPr id="6" name="Rectangle 5"/>
          <p:cNvSpPr/>
          <p:nvPr/>
        </p:nvSpPr>
        <p:spPr>
          <a:xfrm>
            <a:off x="658368" y="1600200"/>
            <a:ext cx="1956816" cy="1371600"/>
          </a:xfrm>
          <a:prstGeom prst="rect">
            <a:avLst/>
          </a:prstGeom>
          <a:solidFill>
            <a:srgbClr val="F2F5F7"/>
          </a:solidFill>
          <a:ln>
            <a:solidFill>
              <a:srgbClr val="D8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0E7C86"/>
                </a:solidFill>
                <a:latin typeface="Calibri"/>
              </a:rPr>
              <a:t>123</a:t>
            </a:r>
          </a:p>
          <a:p>
            <a:pPr algn="ctr"/>
            <a:r>
              <a:rPr sz="1200">
                <a:solidFill>
                  <a:srgbClr val="5B6B77"/>
                </a:solidFill>
                <a:latin typeface="Calibri"/>
              </a:rPr>
              <a:t>manual test cases</a:t>
            </a:r>
          </a:p>
        </p:txBody>
      </p:sp>
      <p:sp>
        <p:nvSpPr>
          <p:cNvPr id="7" name="Rectangle 6"/>
          <p:cNvSpPr/>
          <p:nvPr/>
        </p:nvSpPr>
        <p:spPr>
          <a:xfrm>
            <a:off x="2889504" y="1600200"/>
            <a:ext cx="1956816" cy="1371600"/>
          </a:xfrm>
          <a:prstGeom prst="rect">
            <a:avLst/>
          </a:prstGeom>
          <a:solidFill>
            <a:srgbClr val="F2F5F7"/>
          </a:solidFill>
          <a:ln>
            <a:solidFill>
              <a:srgbClr val="D8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0E7C86"/>
                </a:solidFill>
                <a:latin typeface="Calibri"/>
              </a:rPr>
              <a:t>82</a:t>
            </a:r>
          </a:p>
          <a:p>
            <a:pPr algn="ctr"/>
            <a:r>
              <a:rPr sz="1200">
                <a:solidFill>
                  <a:srgbClr val="5B6B77"/>
                </a:solidFill>
                <a:latin typeface="Calibri"/>
              </a:rPr>
              <a:t>passed</a:t>
            </a:r>
          </a:p>
        </p:txBody>
      </p:sp>
      <p:sp>
        <p:nvSpPr>
          <p:cNvPr id="8" name="Rectangle 7"/>
          <p:cNvSpPr/>
          <p:nvPr/>
        </p:nvSpPr>
        <p:spPr>
          <a:xfrm>
            <a:off x="5120640" y="1600200"/>
            <a:ext cx="1956816" cy="1371600"/>
          </a:xfrm>
          <a:prstGeom prst="rect">
            <a:avLst/>
          </a:prstGeom>
          <a:solidFill>
            <a:srgbClr val="F2F5F7"/>
          </a:solidFill>
          <a:ln>
            <a:solidFill>
              <a:srgbClr val="D8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0E7C86"/>
                </a:solidFill>
                <a:latin typeface="Calibri"/>
              </a:rPr>
              <a:t>2</a:t>
            </a:r>
          </a:p>
          <a:p>
            <a:pPr algn="ctr"/>
            <a:r>
              <a:rPr sz="1200">
                <a:solidFill>
                  <a:srgbClr val="5B6B77"/>
                </a:solidFill>
                <a:latin typeface="Calibri"/>
              </a:rPr>
              <a:t>failed</a:t>
            </a:r>
          </a:p>
        </p:txBody>
      </p:sp>
      <p:sp>
        <p:nvSpPr>
          <p:cNvPr id="9" name="Rectangle 8"/>
          <p:cNvSpPr/>
          <p:nvPr/>
        </p:nvSpPr>
        <p:spPr>
          <a:xfrm>
            <a:off x="7351776" y="1600200"/>
            <a:ext cx="1956816" cy="1371600"/>
          </a:xfrm>
          <a:prstGeom prst="rect">
            <a:avLst/>
          </a:prstGeom>
          <a:solidFill>
            <a:srgbClr val="F2F5F7"/>
          </a:solidFill>
          <a:ln>
            <a:solidFill>
              <a:srgbClr val="D8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0E7C86"/>
                </a:solidFill>
                <a:latin typeface="Calibri"/>
              </a:rPr>
              <a:t>97.6%</a:t>
            </a:r>
          </a:p>
          <a:p>
            <a:pPr algn="ctr"/>
            <a:r>
              <a:rPr sz="1200">
                <a:solidFill>
                  <a:srgbClr val="5B6B77"/>
                </a:solidFill>
                <a:latin typeface="Calibri"/>
              </a:rPr>
              <a:t>pass rate (executed)</a:t>
            </a:r>
          </a:p>
        </p:txBody>
      </p:sp>
      <p:sp>
        <p:nvSpPr>
          <p:cNvPr id="10" name="Rectangle 9"/>
          <p:cNvSpPr/>
          <p:nvPr/>
        </p:nvSpPr>
        <p:spPr>
          <a:xfrm>
            <a:off x="9582912" y="1600200"/>
            <a:ext cx="1956816" cy="1371600"/>
          </a:xfrm>
          <a:prstGeom prst="rect">
            <a:avLst/>
          </a:prstGeom>
          <a:solidFill>
            <a:srgbClr val="F2F5F7"/>
          </a:solidFill>
          <a:ln>
            <a:solidFill>
              <a:srgbClr val="D8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0E7C86"/>
                </a:solidFill>
                <a:latin typeface="Calibri"/>
              </a:rPr>
              <a:t>53</a:t>
            </a:r>
          </a:p>
          <a:p>
            <a:pPr algn="ctr"/>
            <a:r>
              <a:rPr sz="1200">
                <a:solidFill>
                  <a:srgbClr val="5B6B77"/>
                </a:solidFill>
                <a:latin typeface="Calibri"/>
              </a:rPr>
              <a:t>automated tests pass</a:t>
            </a:r>
          </a:p>
        </p:txBody>
      </p:sp>
      <p:sp>
        <p:nvSpPr>
          <p:cNvPr id="11" name="TextBox 10"/>
          <p:cNvSpPr txBox="1"/>
          <p:nvPr/>
        </p:nvSpPr>
        <p:spPr>
          <a:xfrm>
            <a:off x="658368" y="3200400"/>
            <a:ext cx="5394960" cy="3291840"/>
          </a:xfrm>
          <a:prstGeom prst="rect">
            <a:avLst/>
          </a:prstGeom>
          <a:noFill/>
        </p:spPr>
        <p:txBody>
          <a:bodyPr wrap="square">
            <a:spAutoFit/>
          </a:bodyPr>
          <a:lstStyle/>
          <a:p>
            <a:pPr>
              <a:spcAft>
                <a:spcPts val="1000"/>
              </a:spcAft>
            </a:pPr>
            <a:r>
              <a:rPr sz="1600" b="0">
                <a:solidFill>
                  <a:srgbClr val="1F2A33"/>
                </a:solidFill>
                <a:latin typeface="Calibri"/>
              </a:rPr>
              <a:t>• How I tested</a:t>
            </a:r>
          </a:p>
          <a:p>
            <a:pPr lvl="1">
              <a:spcAft>
                <a:spcPts val="1000"/>
              </a:spcAft>
            </a:pPr>
            <a:r>
              <a:rPr sz="1400" b="0">
                <a:solidFill>
                  <a:srgbClr val="5B6B77"/>
                </a:solidFill>
                <a:latin typeface="Calibri"/>
              </a:rPr>
              <a:t>– A test workbook of 123 cases across every module.</a:t>
            </a:r>
          </a:p>
          <a:p>
            <a:pPr lvl="1">
              <a:spcAft>
                <a:spcPts val="1000"/>
              </a:spcAft>
            </a:pPr>
            <a:r>
              <a:rPr sz="1400" b="0">
                <a:solidFill>
                  <a:srgbClr val="5B6B77"/>
                </a:solidFill>
                <a:latin typeface="Calibri"/>
              </a:rPr>
              <a:t>– Each case has steps, expected result and actual result.</a:t>
            </a:r>
          </a:p>
          <a:p>
            <a:pPr lvl="1">
              <a:spcAft>
                <a:spcPts val="1000"/>
              </a:spcAft>
            </a:pPr>
            <a:r>
              <a:rPr sz="1400" b="0">
                <a:solidFill>
                  <a:srgbClr val="5B6B77"/>
                </a:solidFill>
                <a:latin typeface="Calibri"/>
              </a:rPr>
              <a:t>– 39 cases are still to run.</a:t>
            </a:r>
          </a:p>
          <a:p>
            <a:pPr lvl="1">
              <a:spcAft>
                <a:spcPts val="1000"/>
              </a:spcAft>
            </a:pPr>
            <a:r>
              <a:rPr sz="1400" b="0">
                <a:solidFill>
                  <a:srgbClr val="5B6B77"/>
                </a:solidFill>
                <a:latin typeface="Calibri"/>
              </a:rPr>
              <a:t>– Automated: 19 AI-service, 27 agent-service, 7 gateway.</a:t>
            </a:r>
          </a:p>
        </p:txBody>
      </p:sp>
      <p:sp>
        <p:nvSpPr>
          <p:cNvPr id="12" name="TextBox 11"/>
          <p:cNvSpPr txBox="1"/>
          <p:nvPr/>
        </p:nvSpPr>
        <p:spPr>
          <a:xfrm>
            <a:off x="6400800" y="3200400"/>
            <a:ext cx="5212080" cy="3291840"/>
          </a:xfrm>
          <a:prstGeom prst="rect">
            <a:avLst/>
          </a:prstGeom>
          <a:noFill/>
        </p:spPr>
        <p:txBody>
          <a:bodyPr wrap="square">
            <a:spAutoFit/>
          </a:bodyPr>
          <a:lstStyle/>
          <a:p>
            <a:pPr>
              <a:spcAft>
                <a:spcPts val="1000"/>
              </a:spcAft>
            </a:pPr>
            <a:r>
              <a:rPr sz="1600" b="0">
                <a:solidFill>
                  <a:srgbClr val="1F2A33"/>
                </a:solidFill>
                <a:latin typeface="Calibri"/>
              </a:rPr>
              <a:t>• What testing found</a:t>
            </a:r>
          </a:p>
          <a:p>
            <a:pPr lvl="1">
              <a:spcAft>
                <a:spcPts val="1000"/>
              </a:spcAft>
            </a:pPr>
            <a:r>
              <a:rPr sz="1400" b="0">
                <a:solidFill>
                  <a:srgbClr val="5B6B77"/>
                </a:solidFill>
                <a:latin typeface="Calibri"/>
              </a:rPr>
              <a:t>– Vaccination records could not be edited — fixed.</a:t>
            </a:r>
          </a:p>
          <a:p>
            <a:pPr lvl="1">
              <a:spcAft>
                <a:spcPts val="1000"/>
              </a:spcAft>
            </a:pPr>
            <a:r>
              <a:rPr sz="1400" b="0">
                <a:solidFill>
                  <a:srgbClr val="5B6B77"/>
                </a:solidFill>
                <a:latin typeface="Calibri"/>
              </a:rPr>
              <a:t>– Booking confirmed with no confirmation step — fixed.</a:t>
            </a:r>
          </a:p>
          <a:p>
            <a:pPr lvl="1">
              <a:spcAft>
                <a:spcPts val="1000"/>
              </a:spcAft>
            </a:pPr>
            <a:r>
              <a:rPr sz="1400" b="0">
                <a:solidFill>
                  <a:srgbClr val="5B6B77"/>
                </a:solidFill>
                <a:latin typeface="Calibri"/>
              </a:rPr>
              <a:t>– Vet reply saved no message — fixed.</a:t>
            </a:r>
          </a:p>
          <a:p>
            <a:pPr lvl="1">
              <a:spcAft>
                <a:spcPts val="1000"/>
              </a:spcAft>
            </a:pPr>
            <a:r>
              <a:rPr sz="1400" b="0">
                <a:solidFill>
                  <a:srgbClr val="5B6B77"/>
                </a:solidFill>
                <a:latin typeface="Calibri"/>
              </a:rPr>
              <a:t>– Any vet could read any inquiry — fixed.</a:t>
            </a:r>
          </a:p>
          <a:p>
            <a:pPr>
              <a:spcAft>
                <a:spcPts val="1000"/>
              </a:spcAft>
            </a:pPr>
            <a:r>
              <a:rPr sz="1600" b="0">
                <a:solidFill>
                  <a:srgbClr val="1F2A33"/>
                </a:solidFill>
                <a:latin typeface="Calibri"/>
              </a:rPr>
              <a:t>• Feedback loop is live</a:t>
            </a:r>
          </a:p>
          <a:p>
            <a:pPr lvl="1">
              <a:spcAft>
                <a:spcPts val="1000"/>
              </a:spcAft>
            </a:pPr>
            <a:r>
              <a:rPr sz="1400" b="0">
                <a:solidFill>
                  <a:srgbClr val="5B6B77"/>
                </a:solidFill>
                <a:latin typeface="Calibri"/>
              </a:rPr>
              <a:t>– Vets confirm the real diagnosis in the system.</a:t>
            </a:r>
          </a:p>
          <a:p>
            <a:pPr lvl="1">
              <a:spcAft>
                <a:spcPts val="1000"/>
              </a:spcAft>
            </a:pPr>
            <a:r>
              <a:rPr sz="1400" b="0">
                <a:solidFill>
                  <a:srgbClr val="5B6B77"/>
                </a:solidFill>
                <a:latin typeface="Calibri"/>
              </a:rPr>
              <a:t>– AI-vs-vet agreement is shown on the admin panel.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0515600" cy="822960"/>
          </a:xfrm>
          <a:prstGeom prst="rect">
            <a:avLst/>
          </a:prstGeom>
          <a:noFill/>
        </p:spPr>
        <p:txBody>
          <a:bodyPr wrap="square">
            <a:spAutoFit/>
          </a:bodyPr>
          <a:lstStyle/>
          <a:p>
            <a:r>
              <a:rPr sz="3000" b="1">
                <a:solidFill>
                  <a:srgbClr val="FFFFFF"/>
                </a:solidFill>
                <a:latin typeface="Calibri"/>
              </a:rPr>
              <a:t>Privacy — Relationship-Based Access Control</a:t>
            </a:r>
          </a:p>
          <a:p>
            <a:r>
              <a:rPr sz="1300">
                <a:solidFill>
                  <a:srgbClr val="B8CDD8"/>
                </a:solidFill>
                <a:latin typeface="Calibri"/>
              </a:rPr>
              <a:t>A vet sees a pet only when there is a real link</a:t>
            </a:r>
          </a:p>
        </p:txBody>
      </p:sp>
      <p:sp>
        <p:nvSpPr>
          <p:cNvPr id="5" name="TextBox 4"/>
          <p:cNvSpPr txBox="1"/>
          <p:nvPr/>
        </p:nvSpPr>
        <p:spPr>
          <a:xfrm>
            <a:off x="11064240" y="256032"/>
            <a:ext cx="822960" cy="548640"/>
          </a:xfrm>
          <a:prstGeom prst="rect">
            <a:avLst/>
          </a:prstGeom>
          <a:noFill/>
        </p:spPr>
        <p:txBody>
          <a:bodyPr wrap="square">
            <a:spAutoFit/>
          </a:bodyPr>
          <a:lstStyle/>
          <a:p>
            <a:pPr algn="r"/>
            <a:r>
              <a:rPr sz="2600" b="1">
                <a:solidFill>
                  <a:srgbClr val="0E7C86"/>
                </a:solidFill>
                <a:latin typeface="Calibri"/>
              </a:rPr>
              <a:t>16</a:t>
            </a:r>
          </a:p>
        </p:txBody>
      </p:sp>
      <p:pic>
        <p:nvPicPr>
          <p:cNvPr id="6" name="Picture 5" descr="fig08-access-control.png"/>
          <p:cNvPicPr>
            <a:picLocks noChangeAspect="1"/>
          </p:cNvPicPr>
          <p:nvPr/>
        </p:nvPicPr>
        <p:blipFill>
          <a:blip r:embed="rId2"/>
          <a:stretch>
            <a:fillRect/>
          </a:stretch>
        </p:blipFill>
        <p:spPr>
          <a:xfrm>
            <a:off x="3902380" y="1371600"/>
            <a:ext cx="4386935" cy="3749039"/>
          </a:xfrm>
          <a:prstGeom prst="rect">
            <a:avLst/>
          </a:prstGeom>
        </p:spPr>
      </p:pic>
      <p:sp>
        <p:nvSpPr>
          <p:cNvPr id="7" name="TextBox 6"/>
          <p:cNvSpPr txBox="1"/>
          <p:nvPr/>
        </p:nvSpPr>
        <p:spPr>
          <a:xfrm>
            <a:off x="658368" y="5349240"/>
            <a:ext cx="10881360" cy="1188720"/>
          </a:xfrm>
          <a:prstGeom prst="rect">
            <a:avLst/>
          </a:prstGeom>
          <a:noFill/>
        </p:spPr>
        <p:txBody>
          <a:bodyPr wrap="square">
            <a:spAutoFit/>
          </a:bodyPr>
          <a:lstStyle/>
          <a:p>
            <a:pPr>
              <a:spcAft>
                <a:spcPts val="1000"/>
              </a:spcAft>
            </a:pPr>
            <a:r>
              <a:rPr sz="1500" b="0">
                <a:solidFill>
                  <a:srgbClr val="1F2A33"/>
                </a:solidFill>
                <a:latin typeface="Calibri"/>
              </a:rPr>
              <a:t>• Access comes from an appointment or the owner's consent. The owner can withdraw it at any time.</a:t>
            </a:r>
          </a:p>
          <a:p>
            <a:pPr lvl="1">
              <a:spcAft>
                <a:spcPts val="1000"/>
              </a:spcAft>
            </a:pPr>
            <a:r>
              <a:rPr sz="1300" b="0">
                <a:solidFill>
                  <a:srgbClr val="5B6B77"/>
                </a:solidFill>
                <a:latin typeface="Calibri"/>
              </a:rPr>
              <a:t>– Checks are in the services, not the screen. If the check cannot run, access is refused.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0515600" cy="822960"/>
          </a:xfrm>
          <a:prstGeom prst="rect">
            <a:avLst/>
          </a:prstGeom>
          <a:noFill/>
        </p:spPr>
        <p:txBody>
          <a:bodyPr wrap="square">
            <a:spAutoFit/>
          </a:bodyPr>
          <a:lstStyle/>
          <a:p>
            <a:r>
              <a:rPr sz="3000" b="1">
                <a:solidFill>
                  <a:srgbClr val="FFFFFF"/>
                </a:solidFill>
                <a:latin typeface="Calibri"/>
              </a:rPr>
              <a:t>Challenges and Solutions</a:t>
            </a:r>
          </a:p>
          <a:p>
            <a:r>
              <a:rPr sz="1300">
                <a:solidFill>
                  <a:srgbClr val="B8CDD8"/>
                </a:solidFill>
                <a:latin typeface="Calibri"/>
              </a:rPr>
              <a:t>Technical and research</a:t>
            </a:r>
          </a:p>
        </p:txBody>
      </p:sp>
      <p:sp>
        <p:nvSpPr>
          <p:cNvPr id="5" name="TextBox 4"/>
          <p:cNvSpPr txBox="1"/>
          <p:nvPr/>
        </p:nvSpPr>
        <p:spPr>
          <a:xfrm>
            <a:off x="11064240" y="256032"/>
            <a:ext cx="822960" cy="548640"/>
          </a:xfrm>
          <a:prstGeom prst="rect">
            <a:avLst/>
          </a:prstGeom>
          <a:noFill/>
        </p:spPr>
        <p:txBody>
          <a:bodyPr wrap="square">
            <a:spAutoFit/>
          </a:bodyPr>
          <a:lstStyle/>
          <a:p>
            <a:pPr algn="r"/>
            <a:r>
              <a:rPr sz="2600" b="1">
                <a:solidFill>
                  <a:srgbClr val="0E7C86"/>
                </a:solidFill>
                <a:latin typeface="Calibri"/>
              </a:rPr>
              <a:t>17</a:t>
            </a:r>
          </a:p>
        </p:txBody>
      </p:sp>
      <p:graphicFrame>
        <p:nvGraphicFramePr>
          <p:cNvPr id="6" name="Table 5"/>
          <p:cNvGraphicFramePr>
            <a:graphicFrameLocks noGrp="1"/>
          </p:cNvGraphicFramePr>
          <p:nvPr/>
        </p:nvGraphicFramePr>
        <p:xfrm>
          <a:off x="658368" y="1600200"/>
          <a:ext cx="10881360" cy="2194560"/>
        </p:xfrm>
        <a:graphic>
          <a:graphicData uri="http://schemas.openxmlformats.org/drawingml/2006/table">
            <a:tbl>
              <a:tblPr firstRow="1" bandRow="1">
                <a:tableStyleId>{5C22544A-7EE6-4342-B048-85BDC9FD1C3A}</a:tableStyleId>
              </a:tblPr>
              <a:tblGrid>
                <a:gridCol w="5486400"/>
                <a:gridCol w="5394960"/>
              </a:tblGrid>
              <a:tr h="365760">
                <a:tc>
                  <a:txBody>
                    <a:bodyPr/>
                    <a:lstStyle/>
                    <a:p>
                      <a:r>
                        <a:rPr sz="1300" b="1">
                          <a:solidFill>
                            <a:srgbClr val="FFFFFF"/>
                          </a:solidFill>
                          <a:latin typeface="Calibri"/>
                        </a:rPr>
                        <a:t>Challenge</a:t>
                      </a:r>
                    </a:p>
                  </a:txBody>
                  <a:tcPr>
                    <a:solidFill>
                      <a:srgbClr val="142A3F"/>
                    </a:solidFill>
                  </a:tcPr>
                </a:tc>
                <a:tc>
                  <a:txBody>
                    <a:bodyPr/>
                    <a:lstStyle/>
                    <a:p>
                      <a:r>
                        <a:rPr sz="1300" b="1">
                          <a:solidFill>
                            <a:srgbClr val="FFFFFF"/>
                          </a:solidFill>
                          <a:latin typeface="Calibri"/>
                        </a:rPr>
                        <a:t>What I did</a:t>
                      </a:r>
                    </a:p>
                  </a:txBody>
                  <a:tcPr>
                    <a:solidFill>
                      <a:srgbClr val="142A3F"/>
                    </a:solidFill>
                  </a:tcPr>
                </a:tc>
              </a:tr>
              <a:tr h="365760">
                <a:tc>
                  <a:txBody>
                    <a:bodyPr/>
                    <a:lstStyle/>
                    <a:p>
                      <a:r>
                        <a:rPr sz="1300" b="0">
                          <a:solidFill>
                            <a:srgbClr val="1F2A33"/>
                          </a:solidFill>
                          <a:latin typeface="Calibri"/>
                        </a:rPr>
                        <a:t>The disease graph loaded before the database was ready, so it was empty.</a:t>
                      </a:r>
                    </a:p>
                  </a:txBody>
                  <a:tcPr>
                    <a:solidFill>
                      <a:srgbClr val="FFFFFF"/>
                    </a:solidFill>
                  </a:tcPr>
                </a:tc>
                <a:tc>
                  <a:txBody>
                    <a:bodyPr/>
                    <a:lstStyle/>
                    <a:p>
                      <a:r>
                        <a:rPr sz="1300" b="0">
                          <a:solidFill>
                            <a:srgbClr val="1F2A33"/>
                          </a:solidFill>
                          <a:latin typeface="Calibri"/>
                        </a:rPr>
                        <a:t>Added a health check and a background retry until it connects.</a:t>
                      </a:r>
                    </a:p>
                  </a:txBody>
                  <a:tcPr>
                    <a:solidFill>
                      <a:srgbClr val="FFFFFF"/>
                    </a:solidFill>
                  </a:tcPr>
                </a:tc>
              </a:tr>
              <a:tr h="365760">
                <a:tc>
                  <a:txBody>
                    <a:bodyPr/>
                    <a:lstStyle/>
                    <a:p>
                      <a:r>
                        <a:rPr sz="1300" b="0">
                          <a:solidFill>
                            <a:srgbClr val="1F2A33"/>
                          </a:solidFill>
                          <a:latin typeface="Calibri"/>
                        </a:rPr>
                        <a:t>Explanations showed word pieces like 'has' and 'less'. Users were confused.</a:t>
                      </a:r>
                    </a:p>
                  </a:txBody>
                  <a:tcPr>
                    <a:solidFill>
                      <a:srgbClr val="F2F5F7"/>
                    </a:solidFill>
                  </a:tcPr>
                </a:tc>
                <a:tc>
                  <a:txBody>
                    <a:bodyPr/>
                    <a:lstStyle/>
                    <a:p>
                      <a:r>
                        <a:rPr sz="1300" b="0">
                          <a:solidFill>
                            <a:srgbClr val="1F2A33"/>
                          </a:solidFill>
                          <a:latin typeface="Calibri"/>
                        </a:rPr>
                        <a:t>Grouped them into whole form answers, e.g. 'water intake: increased'.</a:t>
                      </a:r>
                    </a:p>
                  </a:txBody>
                  <a:tcPr>
                    <a:solidFill>
                      <a:srgbClr val="F2F5F7"/>
                    </a:solidFill>
                  </a:tcPr>
                </a:tc>
              </a:tr>
              <a:tr h="365760">
                <a:tc>
                  <a:txBody>
                    <a:bodyPr/>
                    <a:lstStyle/>
                    <a:p>
                      <a:r>
                        <a:rPr sz="1300" b="0">
                          <a:solidFill>
                            <a:srgbClr val="1F2A33"/>
                          </a:solidFill>
                          <a:latin typeface="Calibri"/>
                        </a:rPr>
                        <a:t>Any veterinarian could open any pet's health records.</a:t>
                      </a:r>
                    </a:p>
                  </a:txBody>
                  <a:tcPr>
                    <a:solidFill>
                      <a:srgbClr val="FFFFFF"/>
                    </a:solidFill>
                  </a:tcPr>
                </a:tc>
                <a:tc>
                  <a:txBody>
                    <a:bodyPr/>
                    <a:lstStyle/>
                    <a:p>
                      <a:r>
                        <a:rPr sz="1300" b="0">
                          <a:solidFill>
                            <a:srgbClr val="1F2A33"/>
                          </a:solidFill>
                          <a:latin typeface="Calibri"/>
                        </a:rPr>
                        <a:t>Built relationship-based access control that fails closed.</a:t>
                      </a:r>
                    </a:p>
                  </a:txBody>
                  <a:tcPr>
                    <a:solidFill>
                      <a:srgbClr val="FFFFFF"/>
                    </a:solidFill>
                  </a:tcPr>
                </a:tc>
              </a:tr>
              <a:tr h="365760">
                <a:tc>
                  <a:txBody>
                    <a:bodyPr/>
                    <a:lstStyle/>
                    <a:p>
                      <a:r>
                        <a:rPr sz="1300" b="0">
                          <a:solidFill>
                            <a:srgbClr val="1F2A33"/>
                          </a:solidFill>
                          <a:latin typeface="Calibri"/>
                        </a:rPr>
                        <a:t>The risk dataset is 97.7% 'dangerous', so a label would always say dangerous.</a:t>
                      </a:r>
                    </a:p>
                  </a:txBody>
                  <a:tcPr>
                    <a:solidFill>
                      <a:srgbClr val="F2F5F7"/>
                    </a:solidFill>
                  </a:tcPr>
                </a:tc>
                <a:tc>
                  <a:txBody>
                    <a:bodyPr/>
                    <a:lstStyle/>
                    <a:p>
                      <a:r>
                        <a:rPr sz="1300" b="0">
                          <a:solidFill>
                            <a:srgbClr val="1F2A33"/>
                          </a:solidFill>
                          <a:latin typeface="Calibri"/>
                        </a:rPr>
                        <a:t>Used it as a calibrated probability only, never a yes/no label. Stated as a limitation.</a:t>
                      </a:r>
                    </a:p>
                  </a:txBody>
                  <a:tcPr>
                    <a:solidFill>
                      <a:srgbClr val="F2F5F7"/>
                    </a:solidFill>
                  </a:tcPr>
                </a:tc>
              </a:tr>
              <a:tr h="365760">
                <a:tc>
                  <a:txBody>
                    <a:bodyPr/>
                    <a:lstStyle/>
                    <a:p>
                      <a:r>
                        <a:rPr sz="1300" b="0">
                          <a:solidFill>
                            <a:srgbClr val="1F2A33"/>
                          </a:solidFill>
                          <a:latin typeface="Calibri"/>
                        </a:rPr>
                        <a:t>Planned Vertex AI, Google Maps and Firebase messaging needed paid billing.</a:t>
                      </a:r>
                    </a:p>
                  </a:txBody>
                  <a:tcPr>
                    <a:solidFill>
                      <a:srgbClr val="FFFFFF"/>
                    </a:solidFill>
                  </a:tcPr>
                </a:tc>
                <a:tc>
                  <a:txBody>
                    <a:bodyPr/>
                    <a:lstStyle/>
                    <a:p>
                      <a:r>
                        <a:rPr sz="1300" b="0">
                          <a:solidFill>
                            <a:srgbClr val="1F2A33"/>
                          </a:solidFill>
                          <a:latin typeface="Calibri"/>
                        </a:rPr>
                        <a:t>Used Gemini API, OpenStreetMap and in-app notifications instead.</a:t>
                      </a:r>
                    </a:p>
                  </a:txBody>
                  <a:tcPr>
                    <a:solidFill>
                      <a:srgbClr val="FFFFFF"/>
                    </a:solidFill>
                  </a:tcPr>
                </a:tc>
              </a:tr>
            </a:tbl>
          </a:graphicData>
        </a:graphic>
      </p:graphicFrame>
      <p:sp>
        <p:nvSpPr>
          <p:cNvPr id="7" name="TextBox 6"/>
          <p:cNvSpPr txBox="1"/>
          <p:nvPr/>
        </p:nvSpPr>
        <p:spPr>
          <a:xfrm>
            <a:off x="658368" y="5440680"/>
            <a:ext cx="10881360" cy="1097280"/>
          </a:xfrm>
          <a:prstGeom prst="rect">
            <a:avLst/>
          </a:prstGeom>
          <a:noFill/>
        </p:spPr>
        <p:txBody>
          <a:bodyPr wrap="square">
            <a:spAutoFit/>
          </a:bodyPr>
          <a:lstStyle/>
          <a:p>
            <a:pPr>
              <a:spcAft>
                <a:spcPts val="1000"/>
              </a:spcAft>
            </a:pPr>
            <a:r>
              <a:rPr sz="1500" b="0">
                <a:solidFill>
                  <a:srgbClr val="1F2A33"/>
                </a:solidFill>
                <a:latin typeface="Calibri"/>
              </a:rPr>
              <a:t>• Lesson learned: test the boring paths. Most defects were in restart, delete and cancel — not in the AI.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0515600" cy="822960"/>
          </a:xfrm>
          <a:prstGeom prst="rect">
            <a:avLst/>
          </a:prstGeom>
          <a:noFill/>
        </p:spPr>
        <p:txBody>
          <a:bodyPr wrap="square">
            <a:spAutoFit/>
          </a:bodyPr>
          <a:lstStyle/>
          <a:p>
            <a:r>
              <a:rPr sz="3000" b="1">
                <a:solidFill>
                  <a:srgbClr val="FFFFFF"/>
                </a:solidFill>
                <a:latin typeface="Calibri"/>
              </a:rPr>
              <a:t>Remaining Work</a:t>
            </a:r>
          </a:p>
          <a:p>
            <a:r>
              <a:rPr sz="1300">
                <a:solidFill>
                  <a:srgbClr val="B8CDD8"/>
                </a:solidFill>
                <a:latin typeface="Calibri"/>
              </a:rPr>
              <a:t>What is left before submission</a:t>
            </a:r>
          </a:p>
        </p:txBody>
      </p:sp>
      <p:sp>
        <p:nvSpPr>
          <p:cNvPr id="5" name="TextBox 4"/>
          <p:cNvSpPr txBox="1"/>
          <p:nvPr/>
        </p:nvSpPr>
        <p:spPr>
          <a:xfrm>
            <a:off x="11064240" y="256032"/>
            <a:ext cx="822960" cy="548640"/>
          </a:xfrm>
          <a:prstGeom prst="rect">
            <a:avLst/>
          </a:prstGeom>
          <a:noFill/>
        </p:spPr>
        <p:txBody>
          <a:bodyPr wrap="square">
            <a:spAutoFit/>
          </a:bodyPr>
          <a:lstStyle/>
          <a:p>
            <a:pPr algn="r"/>
            <a:r>
              <a:rPr sz="2600" b="1">
                <a:solidFill>
                  <a:srgbClr val="0E7C86"/>
                </a:solidFill>
                <a:latin typeface="Calibri"/>
              </a:rPr>
              <a:t>18</a:t>
            </a:r>
          </a:p>
        </p:txBody>
      </p:sp>
      <p:sp>
        <p:nvSpPr>
          <p:cNvPr id="6" name="TextBox 5"/>
          <p:cNvSpPr txBox="1"/>
          <p:nvPr/>
        </p:nvSpPr>
        <p:spPr>
          <a:xfrm>
            <a:off x="658368" y="1463040"/>
            <a:ext cx="5394960" cy="4937760"/>
          </a:xfrm>
          <a:prstGeom prst="rect">
            <a:avLst/>
          </a:prstGeom>
          <a:noFill/>
        </p:spPr>
        <p:txBody>
          <a:bodyPr wrap="square">
            <a:spAutoFit/>
          </a:bodyPr>
          <a:lstStyle/>
          <a:p>
            <a:pPr>
              <a:spcAft>
                <a:spcPts val="1000"/>
              </a:spcAft>
            </a:pPr>
            <a:r>
              <a:rPr sz="1700" b="0">
                <a:solidFill>
                  <a:srgbClr val="1F2A33"/>
                </a:solidFill>
                <a:latin typeface="Calibri"/>
              </a:rPr>
              <a:t>• Features to complete</a:t>
            </a:r>
          </a:p>
          <a:p>
            <a:pPr lvl="1">
              <a:spcAft>
                <a:spcPts val="1000"/>
              </a:spcAft>
            </a:pPr>
            <a:r>
              <a:rPr sz="1500" b="0">
                <a:solidFill>
                  <a:srgbClr val="5B6B77"/>
                </a:solidFill>
                <a:latin typeface="Calibri"/>
              </a:rPr>
              <a:t>– Run the remaining 39 test cases.</a:t>
            </a:r>
          </a:p>
          <a:p>
            <a:pPr lvl="1">
              <a:spcAft>
                <a:spcPts val="1000"/>
              </a:spcAft>
            </a:pPr>
            <a:r>
              <a:rPr sz="1500" b="0">
                <a:solidFill>
                  <a:srgbClr val="5B6B77"/>
                </a:solidFill>
                <a:latin typeface="Calibri"/>
              </a:rPr>
              <a:t>– Close the deactivated-vet login gap.</a:t>
            </a:r>
          </a:p>
          <a:p>
            <a:pPr lvl="1">
              <a:spcAft>
                <a:spcPts val="1000"/>
              </a:spcAft>
            </a:pPr>
            <a:r>
              <a:rPr sz="1500" b="0">
                <a:solidFill>
                  <a:srgbClr val="5B6B77"/>
                </a:solidFill>
                <a:latin typeface="Calibri"/>
              </a:rPr>
              <a:t>– Archive old risk assessments instead of deleting.</a:t>
            </a:r>
          </a:p>
          <a:p>
            <a:pPr lvl="1">
              <a:spcAft>
                <a:spcPts val="1000"/>
              </a:spcAft>
            </a:pPr>
            <a:r>
              <a:rPr sz="1500" b="0">
                <a:solidFill>
                  <a:srgbClr val="5B6B77"/>
                </a:solidFill>
                <a:latin typeface="Calibri"/>
              </a:rPr>
              <a:t>– Final accessibility and mobile polish.</a:t>
            </a:r>
          </a:p>
          <a:p>
            <a:pPr>
              <a:spcAft>
                <a:spcPts val="1000"/>
              </a:spcAft>
            </a:pPr>
            <a:r>
              <a:rPr sz="1700" b="0">
                <a:solidFill>
                  <a:srgbClr val="1F2A33"/>
                </a:solidFill>
                <a:latin typeface="Calibri"/>
              </a:rPr>
              <a:t>• Testing and validation</a:t>
            </a:r>
          </a:p>
          <a:p>
            <a:pPr lvl="1">
              <a:spcAft>
                <a:spcPts val="1000"/>
              </a:spcAft>
            </a:pPr>
            <a:r>
              <a:rPr sz="1500" b="0">
                <a:solidFill>
                  <a:srgbClr val="5B6B77"/>
                </a:solidFill>
                <a:latin typeface="Calibri"/>
              </a:rPr>
              <a:t>– User testing with real pet owners.</a:t>
            </a:r>
          </a:p>
          <a:p>
            <a:pPr lvl="1">
              <a:spcAft>
                <a:spcPts val="1000"/>
              </a:spcAft>
            </a:pPr>
            <a:r>
              <a:rPr sz="1500" b="0">
                <a:solidFill>
                  <a:srgbClr val="5B6B77"/>
                </a:solidFill>
                <a:latin typeface="Calibri"/>
              </a:rPr>
              <a:t>– Collect vet-confirmed diagnoses for AI-vs-vet agreement.</a:t>
            </a:r>
          </a:p>
        </p:txBody>
      </p:sp>
      <p:sp>
        <p:nvSpPr>
          <p:cNvPr id="7" name="TextBox 6"/>
          <p:cNvSpPr txBox="1"/>
          <p:nvPr/>
        </p:nvSpPr>
        <p:spPr>
          <a:xfrm>
            <a:off x="6400800" y="1463040"/>
            <a:ext cx="5212080" cy="4937760"/>
          </a:xfrm>
          <a:prstGeom prst="rect">
            <a:avLst/>
          </a:prstGeom>
          <a:noFill/>
        </p:spPr>
        <p:txBody>
          <a:bodyPr wrap="square">
            <a:spAutoFit/>
          </a:bodyPr>
          <a:lstStyle/>
          <a:p>
            <a:pPr>
              <a:spcAft>
                <a:spcPts val="1000"/>
              </a:spcAft>
            </a:pPr>
            <a:r>
              <a:rPr sz="1700" b="0">
                <a:solidFill>
                  <a:srgbClr val="1F2A33"/>
                </a:solidFill>
                <a:latin typeface="Calibri"/>
              </a:rPr>
              <a:t>• Documentation</a:t>
            </a:r>
          </a:p>
          <a:p>
            <a:pPr lvl="1">
              <a:spcAft>
                <a:spcPts val="1000"/>
              </a:spcAft>
            </a:pPr>
            <a:r>
              <a:rPr sz="1500" b="0">
                <a:solidFill>
                  <a:srgbClr val="5B6B77"/>
                </a:solidFill>
                <a:latin typeface="Calibri"/>
              </a:rPr>
              <a:t>– Final dissertation chapters.</a:t>
            </a:r>
          </a:p>
          <a:p>
            <a:pPr lvl="1">
              <a:spcAft>
                <a:spcPts val="1000"/>
              </a:spcAft>
            </a:pPr>
            <a:r>
              <a:rPr sz="1500" b="0">
                <a:solidFill>
                  <a:srgbClr val="5B6B77"/>
                </a:solidFill>
                <a:latin typeface="Calibri"/>
              </a:rPr>
              <a:t>– Updated diagrams and test evidence.</a:t>
            </a:r>
          </a:p>
          <a:p>
            <a:pPr lvl="1">
              <a:spcAft>
                <a:spcPts val="1000"/>
              </a:spcAft>
            </a:pPr>
            <a:r>
              <a:rPr sz="1500" b="0">
                <a:solidFill>
                  <a:srgbClr val="5B6B77"/>
                </a:solidFill>
                <a:latin typeface="Calibri"/>
              </a:rPr>
              <a:t>– User manual and deployment guide.</a:t>
            </a:r>
          </a:p>
          <a:p>
            <a:pPr>
              <a:spcAft>
                <a:spcPts val="1000"/>
              </a:spcAft>
            </a:pPr>
            <a:r>
              <a:rPr sz="1700" b="0">
                <a:solidFill>
                  <a:srgbClr val="1F2A33"/>
                </a:solidFill>
                <a:latin typeface="Calibri"/>
              </a:rPr>
              <a:t>• Final steps</a:t>
            </a:r>
          </a:p>
          <a:p>
            <a:pPr lvl="1">
              <a:spcAft>
                <a:spcPts val="1000"/>
              </a:spcAft>
            </a:pPr>
            <a:r>
              <a:rPr sz="1500" b="0">
                <a:solidFill>
                  <a:srgbClr val="5B6B77"/>
                </a:solidFill>
                <a:latin typeface="Calibri"/>
              </a:rPr>
              <a:t>– Full system evaluation against the objectives.</a:t>
            </a:r>
          </a:p>
          <a:p>
            <a:pPr lvl="1">
              <a:spcAft>
                <a:spcPts val="1000"/>
              </a:spcAft>
            </a:pPr>
            <a:r>
              <a:rPr sz="1500" b="0">
                <a:solidFill>
                  <a:srgbClr val="5B6B77"/>
                </a:solidFill>
                <a:latin typeface="Calibri"/>
              </a:rPr>
              <a:t>– Viva preparation.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0515600" cy="822960"/>
          </a:xfrm>
          <a:prstGeom prst="rect">
            <a:avLst/>
          </a:prstGeom>
          <a:noFill/>
        </p:spPr>
        <p:txBody>
          <a:bodyPr wrap="square">
            <a:spAutoFit/>
          </a:bodyPr>
          <a:lstStyle/>
          <a:p>
            <a:r>
              <a:rPr sz="3000" b="1">
                <a:solidFill>
                  <a:srgbClr val="FFFFFF"/>
                </a:solidFill>
                <a:latin typeface="Calibri"/>
              </a:rPr>
              <a:t>Project Timeline</a:t>
            </a:r>
          </a:p>
          <a:p>
            <a:r>
              <a:rPr sz="1300">
                <a:solidFill>
                  <a:srgbClr val="B8CDD8"/>
                </a:solidFill>
                <a:latin typeface="Calibri"/>
              </a:rPr>
              <a:t>Milestones completed and remaining schedule</a:t>
            </a:r>
          </a:p>
        </p:txBody>
      </p:sp>
      <p:sp>
        <p:nvSpPr>
          <p:cNvPr id="5" name="TextBox 4"/>
          <p:cNvSpPr txBox="1"/>
          <p:nvPr/>
        </p:nvSpPr>
        <p:spPr>
          <a:xfrm>
            <a:off x="11064240" y="256032"/>
            <a:ext cx="822960" cy="548640"/>
          </a:xfrm>
          <a:prstGeom prst="rect">
            <a:avLst/>
          </a:prstGeom>
          <a:noFill/>
        </p:spPr>
        <p:txBody>
          <a:bodyPr wrap="square">
            <a:spAutoFit/>
          </a:bodyPr>
          <a:lstStyle/>
          <a:p>
            <a:pPr algn="r"/>
            <a:r>
              <a:rPr sz="2600" b="1">
                <a:solidFill>
                  <a:srgbClr val="0E7C86"/>
                </a:solidFill>
                <a:latin typeface="Calibri"/>
              </a:rPr>
              <a:t>19</a:t>
            </a:r>
          </a:p>
        </p:txBody>
      </p:sp>
      <p:pic>
        <p:nvPicPr>
          <p:cNvPr id="6" name="Picture 5" descr="fig10-gantt.png"/>
          <p:cNvPicPr>
            <a:picLocks noChangeAspect="1"/>
          </p:cNvPicPr>
          <p:nvPr/>
        </p:nvPicPr>
        <p:blipFill>
          <a:blip r:embed="rId2"/>
          <a:stretch>
            <a:fillRect/>
          </a:stretch>
        </p:blipFill>
        <p:spPr>
          <a:xfrm>
            <a:off x="3438412" y="1371600"/>
            <a:ext cx="5314871" cy="3931920"/>
          </a:xfrm>
          <a:prstGeom prst="rect">
            <a:avLst/>
          </a:prstGeom>
        </p:spPr>
      </p:pic>
      <p:sp>
        <p:nvSpPr>
          <p:cNvPr id="7" name="TextBox 6"/>
          <p:cNvSpPr txBox="1"/>
          <p:nvPr/>
        </p:nvSpPr>
        <p:spPr>
          <a:xfrm>
            <a:off x="658368" y="5486400"/>
            <a:ext cx="10881360" cy="1005840"/>
          </a:xfrm>
          <a:prstGeom prst="rect">
            <a:avLst/>
          </a:prstGeom>
          <a:noFill/>
        </p:spPr>
        <p:txBody>
          <a:bodyPr wrap="square">
            <a:spAutoFit/>
          </a:bodyPr>
          <a:lstStyle/>
          <a:p>
            <a:pPr>
              <a:spcAft>
                <a:spcPts val="1000"/>
              </a:spcAft>
            </a:pPr>
            <a:r>
              <a:rPr sz="1500" b="0">
                <a:solidFill>
                  <a:srgbClr val="1F2A33"/>
                </a:solidFill>
                <a:latin typeface="Calibri"/>
              </a:rPr>
              <a:t>• Completed: proposal, literature review, requirements, design, full implementation, interim report, PR2 testing.</a:t>
            </a:r>
          </a:p>
          <a:p>
            <a:pPr lvl="1">
              <a:spcAft>
                <a:spcPts val="1000"/>
              </a:spcAft>
            </a:pPr>
            <a:r>
              <a:rPr sz="1300" b="0">
                <a:solidFill>
                  <a:srgbClr val="5B6B77"/>
                </a:solidFill>
                <a:latin typeface="Calibri"/>
              </a:rPr>
              <a:t>– Remaining: user testing, evaluation, dissertation, viva.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0515600" cy="822960"/>
          </a:xfrm>
          <a:prstGeom prst="rect">
            <a:avLst/>
          </a:prstGeom>
          <a:noFill/>
        </p:spPr>
        <p:txBody>
          <a:bodyPr wrap="square">
            <a:spAutoFit/>
          </a:bodyPr>
          <a:lstStyle/>
          <a:p>
            <a:r>
              <a:rPr sz="3000" b="1">
                <a:solidFill>
                  <a:srgbClr val="FFFFFF"/>
                </a:solidFill>
                <a:latin typeface="Calibri"/>
              </a:rPr>
              <a:t>Conclusion</a:t>
            </a:r>
          </a:p>
          <a:p>
            <a:r>
              <a:rPr sz="1300">
                <a:solidFill>
                  <a:srgbClr val="B8CDD8"/>
                </a:solidFill>
                <a:latin typeface="Calibri"/>
              </a:rPr>
              <a:t>Summary of progress</a:t>
            </a:r>
          </a:p>
        </p:txBody>
      </p:sp>
      <p:sp>
        <p:nvSpPr>
          <p:cNvPr id="5" name="TextBox 4"/>
          <p:cNvSpPr txBox="1"/>
          <p:nvPr/>
        </p:nvSpPr>
        <p:spPr>
          <a:xfrm>
            <a:off x="11064240" y="256032"/>
            <a:ext cx="822960" cy="548640"/>
          </a:xfrm>
          <a:prstGeom prst="rect">
            <a:avLst/>
          </a:prstGeom>
          <a:noFill/>
        </p:spPr>
        <p:txBody>
          <a:bodyPr wrap="square">
            <a:spAutoFit/>
          </a:bodyPr>
          <a:lstStyle/>
          <a:p>
            <a:pPr algn="r"/>
            <a:r>
              <a:rPr sz="2600" b="1">
                <a:solidFill>
                  <a:srgbClr val="0E7C86"/>
                </a:solidFill>
                <a:latin typeface="Calibri"/>
              </a:rPr>
              <a:t>20</a:t>
            </a:r>
          </a:p>
        </p:txBody>
      </p:sp>
      <p:sp>
        <p:nvSpPr>
          <p:cNvPr id="6" name="TextBox 5"/>
          <p:cNvSpPr txBox="1"/>
          <p:nvPr/>
        </p:nvSpPr>
        <p:spPr>
          <a:xfrm>
            <a:off x="658368" y="1554480"/>
            <a:ext cx="10881360" cy="4206240"/>
          </a:xfrm>
          <a:prstGeom prst="rect">
            <a:avLst/>
          </a:prstGeom>
          <a:noFill/>
        </p:spPr>
        <p:txBody>
          <a:bodyPr wrap="square">
            <a:spAutoFit/>
          </a:bodyPr>
          <a:lstStyle/>
          <a:p>
            <a:pPr>
              <a:spcAft>
                <a:spcPts val="1000"/>
              </a:spcAft>
            </a:pPr>
            <a:r>
              <a:rPr sz="1900" b="0">
                <a:solidFill>
                  <a:srgbClr val="1F2A33"/>
                </a:solidFill>
                <a:latin typeface="Calibri"/>
              </a:rPr>
              <a:t>• All six objectives are implemented and running end to end.</a:t>
            </a:r>
          </a:p>
          <a:p>
            <a:pPr lvl="1">
              <a:spcAft>
                <a:spcPts val="1000"/>
              </a:spcAft>
            </a:pPr>
            <a:r>
              <a:rPr sz="1700" b="0">
                <a:solidFill>
                  <a:srgbClr val="5B6B77"/>
                </a:solidFill>
                <a:latin typeface="Calibri"/>
              </a:rPr>
              <a:t>– Model A predicts 11 conditions at 90.3% accuracy; per-class results are reported honestly.</a:t>
            </a:r>
          </a:p>
          <a:p>
            <a:pPr lvl="1">
              <a:spcAft>
                <a:spcPts val="1000"/>
              </a:spcAft>
            </a:pPr>
            <a:r>
              <a:rPr sz="1700" b="0">
                <a:solidFill>
                  <a:srgbClr val="5B6B77"/>
                </a:solidFill>
                <a:latin typeface="Calibri"/>
              </a:rPr>
              <a:t>– The agentic layer reasons, explains, recommends and monitors on its own.</a:t>
            </a:r>
          </a:p>
          <a:p>
            <a:pPr lvl="1">
              <a:spcAft>
                <a:spcPts val="1000"/>
              </a:spcAft>
            </a:pPr>
            <a:r>
              <a:rPr sz="1700" b="0">
                <a:solidFill>
                  <a:srgbClr val="5B6B77"/>
                </a:solidFill>
                <a:latin typeface="Calibri"/>
              </a:rPr>
              <a:t>– Explanations are in plain words, in three languages.</a:t>
            </a:r>
          </a:p>
          <a:p>
            <a:pPr lvl="1">
              <a:spcAft>
                <a:spcPts val="1000"/>
              </a:spcAft>
            </a:pPr>
            <a:r>
              <a:rPr sz="1700" b="0">
                <a:solidFill>
                  <a:srgbClr val="5B6B77"/>
                </a:solidFill>
                <a:latin typeface="Calibri"/>
              </a:rPr>
              <a:t>– Privacy is enforced by real relationships, not by hiding buttons.</a:t>
            </a:r>
          </a:p>
          <a:p>
            <a:pPr>
              <a:spcAft>
                <a:spcPts val="1000"/>
              </a:spcAft>
            </a:pPr>
            <a:r>
              <a:rPr sz="1900" b="0">
                <a:solidFill>
                  <a:srgbClr val="1F2A33"/>
                </a:solidFill>
                <a:latin typeface="Calibri"/>
              </a:rPr>
              <a:t>• Tested: 82 of 84 executed manual cases pass, plus 53 automated tests.</a:t>
            </a:r>
          </a:p>
          <a:p>
            <a:pPr>
              <a:spcAft>
                <a:spcPts val="1000"/>
              </a:spcAft>
            </a:pPr>
            <a:r>
              <a:rPr sz="1900" b="0">
                <a:solidFill>
                  <a:srgbClr val="1F2A33"/>
                </a:solidFill>
                <a:latin typeface="Calibri"/>
              </a:rPr>
              <a:t>• The system supports decisions. It never claims to diagnose.</a:t>
            </a:r>
          </a:p>
          <a:p>
            <a:pPr>
              <a:spcAft>
                <a:spcPts val="1000"/>
              </a:spcAft>
            </a:pPr>
            <a:r>
              <a:rPr sz="1900" b="0">
                <a:solidFill>
                  <a:srgbClr val="1F2A33"/>
                </a:solidFill>
                <a:latin typeface="Calibri"/>
              </a:rPr>
              <a:t>• Expected completion: final dissertation and viva at the end of the academic year.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0515600" cy="822960"/>
          </a:xfrm>
          <a:prstGeom prst="rect">
            <a:avLst/>
          </a:prstGeom>
          <a:noFill/>
        </p:spPr>
        <p:txBody>
          <a:bodyPr wrap="square">
            <a:spAutoFit/>
          </a:bodyPr>
          <a:lstStyle/>
          <a:p>
            <a:r>
              <a:rPr sz="3000" b="1">
                <a:solidFill>
                  <a:srgbClr val="FFFFFF"/>
                </a:solidFill>
                <a:latin typeface="Calibri"/>
              </a:rPr>
              <a:t>References</a:t>
            </a:r>
          </a:p>
          <a:p>
            <a:r>
              <a:rPr sz="1300">
                <a:solidFill>
                  <a:srgbClr val="B8CDD8"/>
                </a:solidFill>
                <a:latin typeface="Calibri"/>
              </a:rPr>
              <a:t>IEEE style</a:t>
            </a:r>
          </a:p>
        </p:txBody>
      </p:sp>
      <p:sp>
        <p:nvSpPr>
          <p:cNvPr id="5" name="TextBox 4"/>
          <p:cNvSpPr txBox="1"/>
          <p:nvPr/>
        </p:nvSpPr>
        <p:spPr>
          <a:xfrm>
            <a:off x="11064240" y="256032"/>
            <a:ext cx="822960" cy="548640"/>
          </a:xfrm>
          <a:prstGeom prst="rect">
            <a:avLst/>
          </a:prstGeom>
          <a:noFill/>
        </p:spPr>
        <p:txBody>
          <a:bodyPr wrap="square">
            <a:spAutoFit/>
          </a:bodyPr>
          <a:lstStyle/>
          <a:p>
            <a:pPr algn="r"/>
            <a:r>
              <a:rPr sz="2600" b="1">
                <a:solidFill>
                  <a:srgbClr val="0E7C86"/>
                </a:solidFill>
                <a:latin typeface="Calibri"/>
              </a:rPr>
              <a:t>21</a:t>
            </a:r>
          </a:p>
        </p:txBody>
      </p:sp>
      <p:sp>
        <p:nvSpPr>
          <p:cNvPr id="6" name="TextBox 5"/>
          <p:cNvSpPr txBox="1"/>
          <p:nvPr/>
        </p:nvSpPr>
        <p:spPr>
          <a:xfrm>
            <a:off x="658368" y="1463040"/>
            <a:ext cx="10881360" cy="5029200"/>
          </a:xfrm>
          <a:prstGeom prst="rect">
            <a:avLst/>
          </a:prstGeom>
          <a:noFill/>
        </p:spPr>
        <p:txBody>
          <a:bodyPr wrap="square">
            <a:spAutoFit/>
          </a:bodyPr>
          <a:lstStyle/>
          <a:p>
            <a:pPr>
              <a:spcAft>
                <a:spcPts val="700"/>
              </a:spcAft>
            </a:pPr>
            <a:r>
              <a:rPr sz="1150">
                <a:solidFill>
                  <a:srgbClr val="1F2A33"/>
                </a:solidFill>
                <a:latin typeface="Calibri"/>
              </a:rPr>
              <a:t>[1] S. C. Kim and S. Kim, "Development of a Dog Health Score Using an Artificial Intelligence Disease Prediction Algorithm Based on Multifaceted Data," Animals, vol. 14, no. 2, Jan. 2024.</a:t>
            </a:r>
          </a:p>
          <a:p>
            <a:pPr>
              <a:spcAft>
                <a:spcPts val="700"/>
              </a:spcAft>
            </a:pPr>
            <a:r>
              <a:rPr sz="1150">
                <a:solidFill>
                  <a:srgbClr val="1F2A33"/>
                </a:solidFill>
                <a:latin typeface="Calibri"/>
              </a:rPr>
              <a:t>[2] D. Szlosek et al., "Development and validation of a machine learning model for clinical wellness visit classification in cats and dogs," Front. Vet. Sci., vol. 11, 2024.</a:t>
            </a:r>
          </a:p>
          <a:p>
            <a:pPr>
              <a:spcAft>
                <a:spcPts val="700"/>
              </a:spcAft>
            </a:pPr>
            <a:r>
              <a:rPr sz="1150">
                <a:solidFill>
                  <a:srgbClr val="1F2A33"/>
                </a:solidFill>
                <a:latin typeface="Calibri"/>
              </a:rPr>
              <a:t>[3] S. Das, R. K. Roy, and T. Bezboruah, "Machine Learning in Animal Healthcare: A Comprehensive Review," Int. J. Recent Eng. Sci., vol. 11, no. 3, pp. 89–93, Jun. 2024.</a:t>
            </a:r>
          </a:p>
          <a:p>
            <a:pPr>
              <a:spcAft>
                <a:spcPts val="700"/>
              </a:spcAft>
            </a:pPr>
            <a:r>
              <a:rPr sz="1150">
                <a:solidFill>
                  <a:srgbClr val="1F2A33"/>
                </a:solidFill>
                <a:latin typeface="Calibri"/>
              </a:rPr>
              <a:t>[4] M. Jokar, A. Abdous, and V. Rahmanian, "AI chatbots in pet health care: Opportunities and challenges for owners," Vet. Med. Sci., May 2024.</a:t>
            </a:r>
          </a:p>
          <a:p>
            <a:pPr>
              <a:spcAft>
                <a:spcPts val="700"/>
              </a:spcAft>
            </a:pPr>
            <a:r>
              <a:rPr sz="1150">
                <a:solidFill>
                  <a:srgbClr val="1F2A33"/>
                </a:solidFill>
                <a:latin typeface="Calibri"/>
              </a:rPr>
              <a:t>[5] C. A. Aguilar-Lazcano et al., "Machine Learning-Based Sensor Data Fusion for Animal Monitoring: Scoping Review," Sensors, vol. 23, no. 12, Jun. 2023.</a:t>
            </a:r>
          </a:p>
          <a:p>
            <a:pPr>
              <a:spcAft>
                <a:spcPts val="700"/>
              </a:spcAft>
            </a:pPr>
            <a:r>
              <a:rPr sz="1150">
                <a:solidFill>
                  <a:srgbClr val="1F2A33"/>
                </a:solidFill>
                <a:latin typeface="Calibri"/>
              </a:rPr>
              <a:t>[6] J. Imada et al., "Comparison of Machine Learning Tree-Based Algorithms to Predict Future Paratuberculosis ELISA Results Using Repeat Milk Tests," Animals, vol. 14, no. 7, Apr. 2024.</a:t>
            </a:r>
          </a:p>
          <a:p>
            <a:pPr>
              <a:spcAft>
                <a:spcPts val="700"/>
              </a:spcAft>
            </a:pPr>
            <a:r>
              <a:rPr sz="1150">
                <a:solidFill>
                  <a:srgbClr val="1F2A33"/>
                </a:solidFill>
                <a:latin typeface="Calibri"/>
              </a:rPr>
              <a:t>[7] S. Eman et al., "Technologies in Biomarker Discovery for Animal Diseases," Animals, vol. 15, no. 21, Nov. 2025.</a:t>
            </a:r>
          </a:p>
          <a:p>
            <a:pPr>
              <a:spcAft>
                <a:spcPts val="700"/>
              </a:spcAft>
            </a:pPr>
            <a:r>
              <a:rPr sz="1150">
                <a:solidFill>
                  <a:srgbClr val="1F2A33"/>
                </a:solidFill>
                <a:latin typeface="Calibri"/>
              </a:rPr>
              <a:t>[8] J. Rathi and A. Sumathi, "Animal Health Prediction Using Hybrid KNN Based Vector Neighbor Classification Model," J. Comput. Sci., vol. 21, no. 9, pp. 2088–2095, Sep. 2025.</a:t>
            </a:r>
          </a:p>
          <a:p>
            <a:pPr>
              <a:spcAft>
                <a:spcPts val="700"/>
              </a:spcAft>
            </a:pPr>
            <a:r>
              <a:rPr sz="1150">
                <a:solidFill>
                  <a:srgbClr val="1F2A33"/>
                </a:solidFill>
                <a:latin typeface="Calibri"/>
              </a:rPr>
              <a:t>[9] F. Bouchemla et al., "Artificial intelligence feasibility in veterinary medicine: A systematic review," Vet. World, vol. 16, no. 10, pp. 2143–2149, 2023.</a:t>
            </a:r>
          </a:p>
          <a:p>
            <a:pPr>
              <a:spcAft>
                <a:spcPts val="700"/>
              </a:spcAft>
            </a:pPr>
            <a:r>
              <a:rPr sz="1150">
                <a:solidFill>
                  <a:srgbClr val="1F2A33"/>
                </a:solidFill>
                <a:latin typeface="Calibri"/>
              </a:rPr>
              <a:t>[10] A. AP, "PAWPAL: AI-Based Pet Health Assistance System Using Image-based Disease Detection and NLP Symptom Analysis," Int. J. Res. Appl. Sci. Eng. Technol., vol. 13, no. 12, pp. 2065–2072, Dec. 2025.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468880"/>
            <a:ext cx="10332720" cy="2011680"/>
          </a:xfrm>
          <a:prstGeom prst="rect">
            <a:avLst/>
          </a:prstGeom>
          <a:noFill/>
        </p:spPr>
        <p:txBody>
          <a:bodyPr wrap="square">
            <a:spAutoFit/>
          </a:bodyPr>
          <a:lstStyle/>
          <a:p>
            <a:pPr algn="ctr"/>
            <a:r>
              <a:rPr sz="5400" b="1">
                <a:solidFill>
                  <a:srgbClr val="FFFFFF"/>
                </a:solidFill>
                <a:latin typeface="Calibri"/>
              </a:rPr>
              <a:t>Thank You</a:t>
            </a:r>
          </a:p>
          <a:p>
            <a:pPr algn="ctr"/>
            <a:r>
              <a:rPr sz="2800">
                <a:solidFill>
                  <a:srgbClr val="0E7C86"/>
                </a:solidFill>
                <a:latin typeface="Calibri"/>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